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w="12700">
            <a:solidFill>
              <a:srgbClr val="0A0A0F"/>
            </a:solidFill>
            <a:prstDash val="solid"/>
          </a:ln>
        </p:spPr>
      </p:sp>
      <p:sp>
        <p:nvSpPr>
          <p:cNvPr id="3" name="Shape 1"/>
          <p:cNvSpPr/>
          <p:nvPr/>
        </p:nvSpPr>
        <p:spPr>
          <a:xfrm>
            <a:off x="5943600" y="-914400"/>
            <a:ext cx="4572000" cy="4572000"/>
          </a:xfrm>
          <a:prstGeom prst="ellipse">
            <a:avLst/>
          </a:prstGeom>
          <a:solidFill>
            <a:srgbClr val="3B82F6">
              <a:alpha val="12000"/>
            </a:srgbClr>
          </a:solidFill>
          <a:ln w="12700">
            <a:solidFill>
              <a:srgbClr val="0A0A0F"/>
            </a:solidFill>
            <a:prstDash val="solid"/>
          </a:ln>
        </p:spPr>
      </p:sp>
      <p:sp>
        <p:nvSpPr>
          <p:cNvPr id="4" name="Text 2"/>
          <p:cNvSpPr/>
          <p:nvPr/>
        </p:nvSpPr>
        <p:spPr>
          <a:xfrm>
            <a:off x="548640" y="548640"/>
            <a:ext cx="2743200" cy="411480"/>
          </a:xfrm>
          <a:prstGeom prst="rect">
            <a:avLst/>
          </a:prstGeom>
          <a:noFill/>
          <a:ln/>
        </p:spPr>
        <p:txBody>
          <a:bodyPr wrap="square" lIns="0" tIns="0" rIns="0" bIns="0" rtlCol="0" anchor="ctr"/>
          <a:lstStyle/>
          <a:p>
            <a:pPr indent="0" marL="0">
              <a:buNone/>
            </a:pPr>
            <a:r>
              <a:rPr lang="en-US" sz="1400" b="1" spc="600" kern="0" dirty="0">
                <a:solidFill>
                  <a:srgbClr val="06B6D4"/>
                </a:solidFill>
                <a:latin typeface="Calibri" pitchFamily="34" charset="0"/>
                <a:ea typeface="Calibri" pitchFamily="34" charset="-122"/>
                <a:cs typeface="Calibri" pitchFamily="34" charset="-120"/>
              </a:rPr>
              <a:t>XIARO</a:t>
            </a:r>
            <a:endParaRPr lang="en-US" sz="1400" dirty="0"/>
          </a:p>
        </p:txBody>
      </p:sp>
      <p:sp>
        <p:nvSpPr>
          <p:cNvPr id="5" name="Shape 3"/>
          <p:cNvSpPr/>
          <p:nvPr/>
        </p:nvSpPr>
        <p:spPr>
          <a:xfrm>
            <a:off x="548640" y="1005840"/>
            <a:ext cx="1097280" cy="0"/>
          </a:xfrm>
          <a:prstGeom prst="line">
            <a:avLst/>
          </a:prstGeom>
          <a:noFill/>
          <a:ln w="19050">
            <a:solidFill>
              <a:srgbClr val="06B6D4"/>
            </a:solidFill>
            <a:prstDash val="solid"/>
          </a:ln>
        </p:spPr>
      </p:sp>
      <p:sp>
        <p:nvSpPr>
          <p:cNvPr id="6" name="Text 4"/>
          <p:cNvSpPr/>
          <p:nvPr/>
        </p:nvSpPr>
        <p:spPr>
          <a:xfrm>
            <a:off x="548640" y="1188720"/>
            <a:ext cx="8686800" cy="228600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The Real Cost of</a:t>
            </a:r>
            <a:endParaRPr lang="en-US" sz="4600" dirty="0"/>
          </a:p>
          <a:p>
            <a:pPr indent="0" marL="0">
              <a:buNone/>
            </a:pPr>
            <a:r>
              <a:rPr lang="en-US" sz="4600" b="1" dirty="0">
                <a:solidFill>
                  <a:srgbClr val="FFFFFF"/>
                </a:solidFill>
                <a:latin typeface="Calibri" pitchFamily="34" charset="0"/>
                <a:ea typeface="Calibri" pitchFamily="34" charset="-122"/>
                <a:cs typeface="Calibri" pitchFamily="34" charset="-120"/>
              </a:rPr>
              <a:t>Communication Failure</a:t>
            </a:r>
            <a:endParaRPr lang="en-US" sz="4600" dirty="0"/>
          </a:p>
          <a:p>
            <a:pPr indent="0" marL="0">
              <a:buNone/>
            </a:pPr>
            <a:r>
              <a:rPr lang="en-US" sz="4600" b="1" dirty="0">
                <a:solidFill>
                  <a:srgbClr val="FFFFFF"/>
                </a:solidFill>
                <a:latin typeface="Calibri" pitchFamily="34" charset="0"/>
                <a:ea typeface="Calibri" pitchFamily="34" charset="-122"/>
                <a:cs typeface="Calibri" pitchFamily="34" charset="-120"/>
              </a:rPr>
              <a:t>in Transport Operations</a:t>
            </a:r>
            <a:endParaRPr lang="en-US" sz="4600" dirty="0"/>
          </a:p>
        </p:txBody>
      </p:sp>
      <p:sp>
        <p:nvSpPr>
          <p:cNvPr id="7" name="Text 5"/>
          <p:cNvSpPr/>
          <p:nvPr/>
        </p:nvSpPr>
        <p:spPr>
          <a:xfrm>
            <a:off x="548640" y="3749040"/>
            <a:ext cx="8686800" cy="73152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Why every miscommunication, missed call, and wrong routing decision</a:t>
            </a:r>
            <a:endParaRPr lang="en-US" sz="1400" dirty="0"/>
          </a:p>
          <a:p>
            <a:pPr indent="0" marL="0">
              <a:buNone/>
            </a:pPr>
            <a:r>
              <a:rPr lang="en-US" sz="1400" dirty="0">
                <a:solidFill>
                  <a:srgbClr val="94A3B8"/>
                </a:solidFill>
                <a:latin typeface="Calibri" pitchFamily="34" charset="0"/>
                <a:ea typeface="Calibri" pitchFamily="34" charset="-122"/>
                <a:cs typeface="Calibri" pitchFamily="34" charset="-120"/>
              </a:rPr>
              <a:t>costs your business more than you think — and what to do about it.</a:t>
            </a:r>
            <a:endParaRPr lang="en-US" sz="1400" dirty="0"/>
          </a:p>
        </p:txBody>
      </p:sp>
      <p:sp>
        <p:nvSpPr>
          <p:cNvPr id="8" name="Shape 6"/>
          <p:cNvSpPr/>
          <p:nvPr/>
        </p:nvSpPr>
        <p:spPr>
          <a:xfrm>
            <a:off x="548640" y="4663440"/>
            <a:ext cx="11064240" cy="0"/>
          </a:xfrm>
          <a:prstGeom prst="line">
            <a:avLst/>
          </a:prstGeom>
          <a:noFill/>
          <a:ln w="5080">
            <a:solidFill>
              <a:srgbClr val="FFFFFF">
                <a:alpha val="20000"/>
              </a:srgbClr>
            </a:solidFill>
            <a:prstDash val="solid"/>
          </a:ln>
        </p:spPr>
      </p:sp>
      <p:sp>
        <p:nvSpPr>
          <p:cNvPr id="9" name="Text 7"/>
          <p:cNvSpPr/>
          <p:nvPr/>
        </p:nvSpPr>
        <p:spPr>
          <a:xfrm>
            <a:off x="548640" y="4800600"/>
            <a:ext cx="10972800"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Prepared for: Transport &amp; Logistics Operators  |  100+ Driver Fleets  |  Australia</a:t>
            </a:r>
            <a:endParaRPr lang="en-US" sz="1000" dirty="0"/>
          </a:p>
        </p:txBody>
      </p:sp>
      <p:sp>
        <p:nvSpPr>
          <p:cNvPr id="10" name="Shape 8"/>
          <p:cNvSpPr/>
          <p:nvPr/>
        </p:nvSpPr>
        <p:spPr>
          <a:xfrm>
            <a:off x="9875520" y="1097280"/>
            <a:ext cx="1920240" cy="365760"/>
          </a:xfrm>
          <a:prstGeom prst="roundRect">
            <a:avLst>
              <a:gd name="adj" fmla="val 50000"/>
            </a:avLst>
          </a:prstGeom>
          <a:solidFill>
            <a:srgbClr val="3B82F6">
              <a:alpha val="20000"/>
            </a:srgbClr>
          </a:solidFill>
          <a:ln w="6350">
            <a:solidFill>
              <a:srgbClr val="3B82F6">
                <a:alpha val="60000"/>
              </a:srgbClr>
            </a:solidFill>
            <a:prstDash val="solid"/>
          </a:ln>
        </p:spPr>
      </p:sp>
      <p:sp>
        <p:nvSpPr>
          <p:cNvPr id="11" name="Text 9"/>
          <p:cNvSpPr/>
          <p:nvPr/>
        </p:nvSpPr>
        <p:spPr>
          <a:xfrm>
            <a:off x="9875520" y="1097280"/>
            <a:ext cx="192024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Voice routing</a:t>
            </a:r>
            <a:endParaRPr lang="en-US" sz="1000" dirty="0"/>
          </a:p>
        </p:txBody>
      </p:sp>
      <p:sp>
        <p:nvSpPr>
          <p:cNvPr id="12" name="Shape 10"/>
          <p:cNvSpPr/>
          <p:nvPr/>
        </p:nvSpPr>
        <p:spPr>
          <a:xfrm>
            <a:off x="9875520" y="1691640"/>
            <a:ext cx="1920240" cy="365760"/>
          </a:xfrm>
          <a:prstGeom prst="roundRect">
            <a:avLst>
              <a:gd name="adj" fmla="val 50000"/>
            </a:avLst>
          </a:prstGeom>
          <a:solidFill>
            <a:srgbClr val="10B981">
              <a:alpha val="20000"/>
            </a:srgbClr>
          </a:solidFill>
          <a:ln w="6350">
            <a:solidFill>
              <a:srgbClr val="10B981">
                <a:alpha val="60000"/>
              </a:srgbClr>
            </a:solidFill>
            <a:prstDash val="solid"/>
          </a:ln>
        </p:spPr>
      </p:sp>
      <p:sp>
        <p:nvSpPr>
          <p:cNvPr id="13" name="Text 11"/>
          <p:cNvSpPr/>
          <p:nvPr/>
        </p:nvSpPr>
        <p:spPr>
          <a:xfrm>
            <a:off x="9875520" y="1691640"/>
            <a:ext cx="192024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WhatsApp relay</a:t>
            </a:r>
            <a:endParaRPr lang="en-US" sz="1000" dirty="0"/>
          </a:p>
        </p:txBody>
      </p:sp>
      <p:sp>
        <p:nvSpPr>
          <p:cNvPr id="14" name="Shape 12"/>
          <p:cNvSpPr/>
          <p:nvPr/>
        </p:nvSpPr>
        <p:spPr>
          <a:xfrm>
            <a:off x="9875520" y="2286000"/>
            <a:ext cx="1920240" cy="365760"/>
          </a:xfrm>
          <a:prstGeom prst="roundRect">
            <a:avLst>
              <a:gd name="adj" fmla="val 50000"/>
            </a:avLst>
          </a:prstGeom>
          <a:solidFill>
            <a:srgbClr val="F59E0B">
              <a:alpha val="20000"/>
            </a:srgbClr>
          </a:solidFill>
          <a:ln w="6350">
            <a:solidFill>
              <a:srgbClr val="F59E0B">
                <a:alpha val="60000"/>
              </a:srgbClr>
            </a:solidFill>
            <a:prstDash val="solid"/>
          </a:ln>
        </p:spPr>
      </p:sp>
      <p:sp>
        <p:nvSpPr>
          <p:cNvPr id="15" name="Text 13"/>
          <p:cNvSpPr/>
          <p:nvPr/>
        </p:nvSpPr>
        <p:spPr>
          <a:xfrm>
            <a:off x="9875520" y="2286000"/>
            <a:ext cx="192024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SMS fallback</a:t>
            </a:r>
            <a:endParaRPr lang="en-US" sz="1000" dirty="0"/>
          </a:p>
        </p:txBody>
      </p:sp>
      <p:sp>
        <p:nvSpPr>
          <p:cNvPr id="16" name="Shape 14"/>
          <p:cNvSpPr/>
          <p:nvPr/>
        </p:nvSpPr>
        <p:spPr>
          <a:xfrm>
            <a:off x="9875520" y="2880360"/>
            <a:ext cx="1920240" cy="365760"/>
          </a:xfrm>
          <a:prstGeom prst="roundRect">
            <a:avLst>
              <a:gd name="adj" fmla="val 50000"/>
            </a:avLst>
          </a:prstGeom>
          <a:solidFill>
            <a:srgbClr val="06B6D4">
              <a:alpha val="20000"/>
            </a:srgbClr>
          </a:solidFill>
          <a:ln w="6350">
            <a:solidFill>
              <a:srgbClr val="06B6D4">
                <a:alpha val="60000"/>
              </a:srgbClr>
            </a:solidFill>
            <a:prstDash val="solid"/>
          </a:ln>
        </p:spPr>
      </p:sp>
      <p:sp>
        <p:nvSpPr>
          <p:cNvPr id="17" name="Text 15"/>
          <p:cNvSpPr/>
          <p:nvPr/>
        </p:nvSpPr>
        <p:spPr>
          <a:xfrm>
            <a:off x="9875520" y="2880360"/>
            <a:ext cx="1920240" cy="36576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Shift intelligence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w="12700">
            <a:solidFill>
              <a:srgbClr val="0A0A0F"/>
            </a:solidFill>
            <a:prstDash val="solid"/>
          </a:ln>
        </p:spPr>
      </p:sp>
      <p:sp>
        <p:nvSpPr>
          <p:cNvPr id="3" name="Text 1"/>
          <p:cNvSpPr/>
          <p:nvPr/>
        </p:nvSpPr>
        <p:spPr>
          <a:xfrm>
            <a:off x="502920" y="320040"/>
            <a:ext cx="6400800" cy="201168"/>
          </a:xfrm>
          <a:prstGeom prst="rect">
            <a:avLst/>
          </a:prstGeom>
          <a:noFill/>
          <a:ln/>
        </p:spPr>
        <p:txBody>
          <a:bodyPr wrap="square" rtlCol="0" anchor="ctr"/>
          <a:lstStyle/>
          <a:p>
            <a:pPr indent="0" marL="0">
              <a:buNone/>
            </a:pPr>
            <a:r>
              <a:rPr lang="en-US" sz="800" b="1" spc="300" kern="0" dirty="0">
                <a:solidFill>
                  <a:srgbClr val="06B6D4"/>
                </a:solidFill>
                <a:latin typeface="Calibri" pitchFamily="34" charset="0"/>
                <a:ea typeface="Calibri" pitchFamily="34" charset="-122"/>
                <a:cs typeface="Calibri" pitchFamily="34" charset="-120"/>
              </a:rPr>
              <a:t>THE PROBLEM AT SCALE</a:t>
            </a:r>
            <a:endParaRPr lang="en-US" sz="800" dirty="0"/>
          </a:p>
        </p:txBody>
      </p:sp>
      <p:sp>
        <p:nvSpPr>
          <p:cNvPr id="4" name="Text 2"/>
          <p:cNvSpPr/>
          <p:nvPr/>
        </p:nvSpPr>
        <p:spPr>
          <a:xfrm>
            <a:off x="502920" y="54864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poor shift communication</a:t>
            </a:r>
            <a:endParaRPr lang="en-US" sz="2600" dirty="0"/>
          </a:p>
          <a:p>
            <a:pPr indent="0" marL="0">
              <a:buNone/>
            </a:pPr>
            <a:r>
              <a:rPr lang="en-US" sz="2600" b="1" dirty="0">
                <a:solidFill>
                  <a:srgbClr val="FFFFFF"/>
                </a:solidFill>
                <a:latin typeface="Calibri" pitchFamily="34" charset="0"/>
                <a:ea typeface="Calibri" pitchFamily="34" charset="-122"/>
                <a:cs typeface="Calibri" pitchFamily="34" charset="-120"/>
              </a:rPr>
              <a:t>costs Australian fleets every year</a:t>
            </a:r>
            <a:endParaRPr lang="en-US" sz="2600" dirty="0"/>
          </a:p>
        </p:txBody>
      </p:sp>
      <p:sp>
        <p:nvSpPr>
          <p:cNvPr id="5" name="Shape 3"/>
          <p:cNvSpPr/>
          <p:nvPr/>
        </p:nvSpPr>
        <p:spPr>
          <a:xfrm>
            <a:off x="502920" y="1417320"/>
            <a:ext cx="11155680" cy="0"/>
          </a:xfrm>
          <a:prstGeom prst="line">
            <a:avLst/>
          </a:prstGeom>
          <a:noFill/>
          <a:ln w="5080">
            <a:solidFill>
              <a:srgbClr val="FFFFFF">
                <a:alpha val="20000"/>
              </a:srgbClr>
            </a:solidFill>
            <a:prstDash val="solid"/>
          </a:ln>
        </p:spPr>
      </p:sp>
      <p:sp>
        <p:nvSpPr>
          <p:cNvPr id="6" name="Text 4"/>
          <p:cNvSpPr/>
          <p:nvPr/>
        </p:nvSpPr>
        <p:spPr>
          <a:xfrm>
            <a:off x="502920" y="1508760"/>
            <a:ext cx="100584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Based on current Australian industry data — a 100-driver fleet operating 3 shifts, 365 days.</a:t>
            </a:r>
            <a:endParaRPr lang="en-US" sz="1300" dirty="0"/>
          </a:p>
        </p:txBody>
      </p:sp>
      <p:sp>
        <p:nvSpPr>
          <p:cNvPr id="7" name="Shape 5"/>
          <p:cNvSpPr/>
          <p:nvPr/>
        </p:nvSpPr>
        <p:spPr>
          <a:xfrm>
            <a:off x="411480" y="1965960"/>
            <a:ext cx="3611880" cy="1600200"/>
          </a:xfrm>
          <a:prstGeom prst="roundRect">
            <a:avLst>
              <a:gd name="adj" fmla="val 4571"/>
            </a:avLst>
          </a:prstGeom>
          <a:solidFill>
            <a:srgbClr val="13131F"/>
          </a:solidFill>
          <a:ln w="6350">
            <a:solidFill>
              <a:srgbClr val="FFFFFF">
                <a:alpha val="15000"/>
              </a:srgbClr>
            </a:solidFill>
            <a:prstDash val="solid"/>
          </a:ln>
          <a:effectLst>
            <a:outerShdw sx="100000" sy="100000" kx="0" ky="0" algn="bl" rotWithShape="0" blurRad="101600" dist="38100" dir="2700000">
              <a:srgbClr val="000000">
                <a:alpha val="25000"/>
              </a:srgbClr>
            </a:outerShdw>
          </a:effectLst>
        </p:spPr>
      </p:sp>
      <p:sp>
        <p:nvSpPr>
          <p:cNvPr id="8" name="Text 6"/>
          <p:cNvSpPr/>
          <p:nvPr/>
        </p:nvSpPr>
        <p:spPr>
          <a:xfrm>
            <a:off x="576072" y="2103120"/>
            <a:ext cx="3282696" cy="502920"/>
          </a:xfrm>
          <a:prstGeom prst="rect">
            <a:avLst/>
          </a:prstGeom>
          <a:noFill/>
          <a:ln/>
        </p:spPr>
        <p:txBody>
          <a:bodyPr wrap="square" lIns="0" tIns="0" rIns="0" bIns="0" rtlCol="0" anchor="ctr"/>
          <a:lstStyle/>
          <a:p>
            <a:pPr algn="ctr" indent="0" marL="0">
              <a:buNone/>
            </a:pPr>
            <a:r>
              <a:rPr lang="en-US" sz="2800" b="1" dirty="0">
                <a:solidFill>
                  <a:srgbClr val="EF4444"/>
                </a:solidFill>
                <a:latin typeface="Calibri" pitchFamily="34" charset="0"/>
                <a:ea typeface="Calibri" pitchFamily="34" charset="-122"/>
                <a:cs typeface="Calibri" pitchFamily="34" charset="-120"/>
              </a:rPr>
              <a:t>$38/hr</a:t>
            </a:r>
            <a:endParaRPr lang="en-US" sz="2800" dirty="0"/>
          </a:p>
        </p:txBody>
      </p:sp>
      <p:sp>
        <p:nvSpPr>
          <p:cNvPr id="9" name="Text 7"/>
          <p:cNvSpPr/>
          <p:nvPr/>
        </p:nvSpPr>
        <p:spPr>
          <a:xfrm>
            <a:off x="502920" y="2624328"/>
            <a:ext cx="34290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Driver idle cost</a:t>
            </a:r>
            <a:endParaRPr lang="en-US" sz="1100" dirty="0"/>
          </a:p>
        </p:txBody>
      </p:sp>
      <p:sp>
        <p:nvSpPr>
          <p:cNvPr id="10" name="Text 8"/>
          <p:cNvSpPr/>
          <p:nvPr/>
        </p:nvSpPr>
        <p:spPr>
          <a:xfrm>
            <a:off x="502920" y="2880360"/>
            <a:ext cx="34290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Avg. loaded rate per driver</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(ABS 2025 data)</a:t>
            </a:r>
            <a:endParaRPr lang="en-US" sz="900" dirty="0"/>
          </a:p>
        </p:txBody>
      </p:sp>
      <p:sp>
        <p:nvSpPr>
          <p:cNvPr id="11" name="Shape 9"/>
          <p:cNvSpPr/>
          <p:nvPr/>
        </p:nvSpPr>
        <p:spPr>
          <a:xfrm>
            <a:off x="4343400" y="1965960"/>
            <a:ext cx="3611880" cy="1600200"/>
          </a:xfrm>
          <a:prstGeom prst="roundRect">
            <a:avLst>
              <a:gd name="adj" fmla="val 4571"/>
            </a:avLst>
          </a:prstGeom>
          <a:solidFill>
            <a:srgbClr val="13131F"/>
          </a:solidFill>
          <a:ln w="6350">
            <a:solidFill>
              <a:srgbClr val="FFFFFF">
                <a:alpha val="15000"/>
              </a:srgbClr>
            </a:solidFill>
            <a:prstDash val="solid"/>
          </a:ln>
          <a:effectLst>
            <a:outerShdw sx="100000" sy="100000" kx="0" ky="0" algn="bl" rotWithShape="0" blurRad="101600" dist="38100" dir="2700000">
              <a:srgbClr val="000000">
                <a:alpha val="25000"/>
              </a:srgbClr>
            </a:outerShdw>
          </a:effectLst>
        </p:spPr>
      </p:sp>
      <p:sp>
        <p:nvSpPr>
          <p:cNvPr id="12" name="Text 10"/>
          <p:cNvSpPr/>
          <p:nvPr/>
        </p:nvSpPr>
        <p:spPr>
          <a:xfrm>
            <a:off x="4507992" y="2103120"/>
            <a:ext cx="3282696" cy="50292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$250+</a:t>
            </a:r>
            <a:endParaRPr lang="en-US" sz="2800" dirty="0"/>
          </a:p>
        </p:txBody>
      </p:sp>
      <p:sp>
        <p:nvSpPr>
          <p:cNvPr id="13" name="Text 11"/>
          <p:cNvSpPr/>
          <p:nvPr/>
        </p:nvSpPr>
        <p:spPr>
          <a:xfrm>
            <a:off x="4434840" y="2624328"/>
            <a:ext cx="34290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 breakdown delay</a:t>
            </a:r>
            <a:endParaRPr lang="en-US" sz="1100" dirty="0"/>
          </a:p>
        </p:txBody>
      </p:sp>
      <p:sp>
        <p:nvSpPr>
          <p:cNvPr id="14" name="Text 12"/>
          <p:cNvSpPr/>
          <p:nvPr/>
        </p:nvSpPr>
        <p:spPr>
          <a:xfrm>
            <a:off x="4434840" y="2880360"/>
            <a:ext cx="34290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Incl. idle time, tow, rescheduling</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per incident</a:t>
            </a:r>
            <a:endParaRPr lang="en-US" sz="900" dirty="0"/>
          </a:p>
        </p:txBody>
      </p:sp>
      <p:sp>
        <p:nvSpPr>
          <p:cNvPr id="15" name="Shape 13"/>
          <p:cNvSpPr/>
          <p:nvPr/>
        </p:nvSpPr>
        <p:spPr>
          <a:xfrm>
            <a:off x="8275320" y="1965960"/>
            <a:ext cx="3611880" cy="1600200"/>
          </a:xfrm>
          <a:prstGeom prst="roundRect">
            <a:avLst>
              <a:gd name="adj" fmla="val 4571"/>
            </a:avLst>
          </a:prstGeom>
          <a:solidFill>
            <a:srgbClr val="13131F"/>
          </a:solidFill>
          <a:ln w="6350">
            <a:solidFill>
              <a:srgbClr val="FFFFFF">
                <a:alpha val="15000"/>
              </a:srgbClr>
            </a:solidFill>
            <a:prstDash val="solid"/>
          </a:ln>
          <a:effectLst>
            <a:outerShdw sx="100000" sy="100000" kx="0" ky="0" algn="bl" rotWithShape="0" blurRad="101600" dist="38100" dir="2700000">
              <a:srgbClr val="000000">
                <a:alpha val="25000"/>
              </a:srgbClr>
            </a:outerShdw>
          </a:effectLst>
        </p:spPr>
      </p:sp>
      <p:sp>
        <p:nvSpPr>
          <p:cNvPr id="16" name="Text 14"/>
          <p:cNvSpPr/>
          <p:nvPr/>
        </p:nvSpPr>
        <p:spPr>
          <a:xfrm>
            <a:off x="8439912" y="2103120"/>
            <a:ext cx="3282696" cy="502920"/>
          </a:xfrm>
          <a:prstGeom prst="rect">
            <a:avLst/>
          </a:prstGeom>
          <a:noFill/>
          <a:ln/>
        </p:spPr>
        <p:txBody>
          <a:bodyPr wrap="square" lIns="0" tIns="0" rIns="0" bIns="0" rtlCol="0" anchor="ctr"/>
          <a:lstStyle/>
          <a:p>
            <a:pPr algn="ctr" indent="0" marL="0">
              <a:buNone/>
            </a:pPr>
            <a:r>
              <a:rPr lang="en-US" sz="2800" b="1" dirty="0">
                <a:solidFill>
                  <a:srgbClr val="EF4444"/>
                </a:solidFill>
                <a:latin typeface="Calibri" pitchFamily="34" charset="0"/>
                <a:ea typeface="Calibri" pitchFamily="34" charset="-122"/>
                <a:cs typeface="Calibri" pitchFamily="34" charset="-120"/>
              </a:rPr>
              <a:t>$1,300</a:t>
            </a:r>
            <a:endParaRPr lang="en-US" sz="2800" dirty="0"/>
          </a:p>
        </p:txBody>
      </p:sp>
      <p:sp>
        <p:nvSpPr>
          <p:cNvPr id="17" name="Text 15"/>
          <p:cNvSpPr/>
          <p:nvPr/>
        </p:nvSpPr>
        <p:spPr>
          <a:xfrm>
            <a:off x="8366760" y="2624328"/>
            <a:ext cx="34290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 SLA breach</a:t>
            </a:r>
            <a:endParaRPr lang="en-US" sz="1100" dirty="0"/>
          </a:p>
        </p:txBody>
      </p:sp>
      <p:sp>
        <p:nvSpPr>
          <p:cNvPr id="18" name="Text 16"/>
          <p:cNvSpPr/>
          <p:nvPr/>
        </p:nvSpPr>
        <p:spPr>
          <a:xfrm>
            <a:off x="8366760" y="2880360"/>
            <a:ext cx="34290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Service credits + support overtime</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(SprintLaw AU data)</a:t>
            </a:r>
            <a:endParaRPr lang="en-US" sz="900" dirty="0"/>
          </a:p>
        </p:txBody>
      </p:sp>
      <p:sp>
        <p:nvSpPr>
          <p:cNvPr id="19" name="Shape 17"/>
          <p:cNvSpPr/>
          <p:nvPr/>
        </p:nvSpPr>
        <p:spPr>
          <a:xfrm>
            <a:off x="411480" y="3703320"/>
            <a:ext cx="3611880" cy="1600200"/>
          </a:xfrm>
          <a:prstGeom prst="roundRect">
            <a:avLst>
              <a:gd name="adj" fmla="val 4571"/>
            </a:avLst>
          </a:prstGeom>
          <a:solidFill>
            <a:srgbClr val="13131F"/>
          </a:solidFill>
          <a:ln w="6350">
            <a:solidFill>
              <a:srgbClr val="FFFFFF">
                <a:alpha val="15000"/>
              </a:srgbClr>
            </a:solidFill>
            <a:prstDash val="solid"/>
          </a:ln>
          <a:effectLst>
            <a:outerShdw sx="100000" sy="100000" kx="0" ky="0" algn="bl" rotWithShape="0" blurRad="101600" dist="38100" dir="2700000">
              <a:srgbClr val="000000">
                <a:alpha val="25000"/>
              </a:srgbClr>
            </a:outerShdw>
          </a:effectLst>
        </p:spPr>
      </p:sp>
      <p:sp>
        <p:nvSpPr>
          <p:cNvPr id="20" name="Text 18"/>
          <p:cNvSpPr/>
          <p:nvPr/>
        </p:nvSpPr>
        <p:spPr>
          <a:xfrm>
            <a:off x="576072" y="3840480"/>
            <a:ext cx="3282696" cy="50292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2–4hrs</a:t>
            </a:r>
            <a:endParaRPr lang="en-US" sz="2800" dirty="0"/>
          </a:p>
        </p:txBody>
      </p:sp>
      <p:sp>
        <p:nvSpPr>
          <p:cNvPr id="21" name="Text 19"/>
          <p:cNvSpPr/>
          <p:nvPr/>
        </p:nvSpPr>
        <p:spPr>
          <a:xfrm>
            <a:off x="502920" y="4361688"/>
            <a:ext cx="34290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Avg. delay per mis-route</a:t>
            </a:r>
            <a:endParaRPr lang="en-US" sz="1100" dirty="0"/>
          </a:p>
        </p:txBody>
      </p:sp>
      <p:sp>
        <p:nvSpPr>
          <p:cNvPr id="22" name="Text 20"/>
          <p:cNvSpPr/>
          <p:nvPr/>
        </p:nvSpPr>
        <p:spPr>
          <a:xfrm>
            <a:off x="502920" y="4617720"/>
            <a:ext cx="34290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Time lost when call reaches</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wrong/off-shift supervisor</a:t>
            </a:r>
            <a:endParaRPr lang="en-US" sz="900" dirty="0"/>
          </a:p>
        </p:txBody>
      </p:sp>
      <p:sp>
        <p:nvSpPr>
          <p:cNvPr id="23" name="Shape 21"/>
          <p:cNvSpPr/>
          <p:nvPr/>
        </p:nvSpPr>
        <p:spPr>
          <a:xfrm>
            <a:off x="4343400" y="3703320"/>
            <a:ext cx="3611880" cy="1600200"/>
          </a:xfrm>
          <a:prstGeom prst="roundRect">
            <a:avLst>
              <a:gd name="adj" fmla="val 4571"/>
            </a:avLst>
          </a:prstGeom>
          <a:solidFill>
            <a:srgbClr val="13131F"/>
          </a:solidFill>
          <a:ln w="6350">
            <a:solidFill>
              <a:srgbClr val="FFFFFF">
                <a:alpha val="15000"/>
              </a:srgbClr>
            </a:solidFill>
            <a:prstDash val="solid"/>
          </a:ln>
          <a:effectLst>
            <a:outerShdw sx="100000" sy="100000" kx="0" ky="0" algn="bl" rotWithShape="0" blurRad="101600" dist="38100" dir="2700000">
              <a:srgbClr val="000000">
                <a:alpha val="25000"/>
              </a:srgbClr>
            </a:outerShdw>
          </a:effectLst>
        </p:spPr>
      </p:sp>
      <p:sp>
        <p:nvSpPr>
          <p:cNvPr id="24" name="Text 22"/>
          <p:cNvSpPr/>
          <p:nvPr/>
        </p:nvSpPr>
        <p:spPr>
          <a:xfrm>
            <a:off x="4507992" y="3840480"/>
            <a:ext cx="3282696" cy="502920"/>
          </a:xfrm>
          <a:prstGeom prst="rect">
            <a:avLst/>
          </a:prstGeom>
          <a:noFill/>
          <a:ln/>
        </p:spPr>
        <p:txBody>
          <a:bodyPr wrap="square" lIns="0" tIns="0" rIns="0" bIns="0" rtlCol="0" anchor="ctr"/>
          <a:lstStyle/>
          <a:p>
            <a:pPr algn="ctr" indent="0" marL="0">
              <a:buNone/>
            </a:pPr>
            <a:r>
              <a:rPr lang="en-US" sz="2800" b="1" dirty="0">
                <a:solidFill>
                  <a:srgbClr val="EF4444"/>
                </a:solidFill>
                <a:latin typeface="Calibri" pitchFamily="34" charset="0"/>
                <a:ea typeface="Calibri" pitchFamily="34" charset="-122"/>
                <a:cs typeface="Calibri" pitchFamily="34" charset="-120"/>
              </a:rPr>
              <a:t>$7,300</a:t>
            </a:r>
            <a:endParaRPr lang="en-US" sz="2800" dirty="0"/>
          </a:p>
        </p:txBody>
      </p:sp>
      <p:sp>
        <p:nvSpPr>
          <p:cNvPr id="25" name="Text 23"/>
          <p:cNvSpPr/>
          <p:nvPr/>
        </p:nvSpPr>
        <p:spPr>
          <a:xfrm>
            <a:off x="4434840" y="4361688"/>
            <a:ext cx="34290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Per year — just 2 errors</a:t>
            </a:r>
            <a:endParaRPr lang="en-US" sz="1100" dirty="0"/>
          </a:p>
        </p:txBody>
      </p:sp>
      <p:sp>
        <p:nvSpPr>
          <p:cNvPr id="26" name="Text 24"/>
          <p:cNvSpPr/>
          <p:nvPr/>
        </p:nvSpPr>
        <p:spPr>
          <a:xfrm>
            <a:off x="4434840" y="4617720"/>
            <a:ext cx="34290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2 mis-routes/day × 15 min × $38/hr</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 365 days</a:t>
            </a:r>
            <a:endParaRPr lang="en-US" sz="900" dirty="0"/>
          </a:p>
        </p:txBody>
      </p:sp>
      <p:sp>
        <p:nvSpPr>
          <p:cNvPr id="27" name="Shape 25"/>
          <p:cNvSpPr/>
          <p:nvPr/>
        </p:nvSpPr>
        <p:spPr>
          <a:xfrm>
            <a:off x="8275320" y="3703320"/>
            <a:ext cx="3611880" cy="1600200"/>
          </a:xfrm>
          <a:prstGeom prst="roundRect">
            <a:avLst>
              <a:gd name="adj" fmla="val 4571"/>
            </a:avLst>
          </a:prstGeom>
          <a:solidFill>
            <a:srgbClr val="13131F"/>
          </a:solidFill>
          <a:ln w="6350">
            <a:solidFill>
              <a:srgbClr val="FFFFFF">
                <a:alpha val="15000"/>
              </a:srgbClr>
            </a:solidFill>
            <a:prstDash val="solid"/>
          </a:ln>
          <a:effectLst>
            <a:outerShdw sx="100000" sy="100000" kx="0" ky="0" algn="bl" rotWithShape="0" blurRad="101600" dist="38100" dir="2700000">
              <a:srgbClr val="000000">
                <a:alpha val="25000"/>
              </a:srgbClr>
            </a:outerShdw>
          </a:effectLst>
        </p:spPr>
      </p:sp>
      <p:sp>
        <p:nvSpPr>
          <p:cNvPr id="28" name="Text 26"/>
          <p:cNvSpPr/>
          <p:nvPr/>
        </p:nvSpPr>
        <p:spPr>
          <a:xfrm>
            <a:off x="8439912" y="3840480"/>
            <a:ext cx="3282696" cy="502920"/>
          </a:xfrm>
          <a:prstGeom prst="rect">
            <a:avLst/>
          </a:prstGeom>
          <a:noFill/>
          <a:ln/>
        </p:spPr>
        <p:txBody>
          <a:bodyPr wrap="square" lIns="0" tIns="0" rIns="0" bIns="0" rtlCol="0" anchor="ctr"/>
          <a:lstStyle/>
          <a:p>
            <a:pPr algn="ctr" indent="0" marL="0">
              <a:buNone/>
            </a:pPr>
            <a:r>
              <a:rPr lang="en-US" sz="2800" b="1" dirty="0">
                <a:solidFill>
                  <a:srgbClr val="06B6D4"/>
                </a:solidFill>
                <a:latin typeface="Calibri" pitchFamily="34" charset="0"/>
                <a:ea typeface="Calibri" pitchFamily="34" charset="-122"/>
                <a:cs typeface="Calibri" pitchFamily="34" charset="-120"/>
              </a:rPr>
              <a:t>$103B+</a:t>
            </a:r>
            <a:endParaRPr lang="en-US" sz="2800" dirty="0"/>
          </a:p>
        </p:txBody>
      </p:sp>
      <p:sp>
        <p:nvSpPr>
          <p:cNvPr id="29" name="Text 27"/>
          <p:cNvSpPr/>
          <p:nvPr/>
        </p:nvSpPr>
        <p:spPr>
          <a:xfrm>
            <a:off x="8366760" y="4361688"/>
            <a:ext cx="34290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AU logistics market</a:t>
            </a:r>
            <a:endParaRPr lang="en-US" sz="1100" dirty="0"/>
          </a:p>
        </p:txBody>
      </p:sp>
      <p:sp>
        <p:nvSpPr>
          <p:cNvPr id="30" name="Text 28"/>
          <p:cNvSpPr/>
          <p:nvPr/>
        </p:nvSpPr>
        <p:spPr>
          <a:xfrm>
            <a:off x="8366760" y="4617720"/>
            <a:ext cx="34290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Every minute of downtime has</a:t>
            </a:r>
            <a:endParaRPr lang="en-US" sz="900" dirty="0"/>
          </a:p>
          <a:p>
            <a:pPr algn="ctr" indent="0" marL="0">
              <a:buNone/>
            </a:pPr>
            <a:r>
              <a:rPr lang="en-US" sz="900" dirty="0">
                <a:solidFill>
                  <a:srgbClr val="94A3B8"/>
                </a:solidFill>
                <a:latin typeface="Calibri" pitchFamily="34" charset="0"/>
                <a:ea typeface="Calibri" pitchFamily="34" charset="-122"/>
                <a:cs typeface="Calibri" pitchFamily="34" charset="-120"/>
              </a:rPr>
              <a:t>real commercial impact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w="12700">
            <a:solidFill>
              <a:srgbClr val="0A0A0F"/>
            </a:solidFill>
            <a:prstDash val="solid"/>
          </a:ln>
        </p:spPr>
      </p:sp>
      <p:sp>
        <p:nvSpPr>
          <p:cNvPr id="3" name="Text 1"/>
          <p:cNvSpPr/>
          <p:nvPr/>
        </p:nvSpPr>
        <p:spPr>
          <a:xfrm>
            <a:off x="502920" y="320040"/>
            <a:ext cx="6400800" cy="201168"/>
          </a:xfrm>
          <a:prstGeom prst="rect">
            <a:avLst/>
          </a:prstGeom>
          <a:noFill/>
          <a:ln/>
        </p:spPr>
        <p:txBody>
          <a:bodyPr wrap="square" rtlCol="0" anchor="ctr"/>
          <a:lstStyle/>
          <a:p>
            <a:pPr indent="0" marL="0">
              <a:buNone/>
            </a:pPr>
            <a:r>
              <a:rPr lang="en-US" sz="800" b="1" spc="300" kern="0" dirty="0">
                <a:solidFill>
                  <a:srgbClr val="06B6D4"/>
                </a:solidFill>
                <a:latin typeface="Calibri" pitchFamily="34" charset="0"/>
                <a:ea typeface="Calibri" pitchFamily="34" charset="-122"/>
                <a:cs typeface="Calibri" pitchFamily="34" charset="-120"/>
              </a:rPr>
              <a:t>REAL-WORLD SCENARIOS</a:t>
            </a:r>
            <a:endParaRPr lang="en-US" sz="800" dirty="0"/>
          </a:p>
        </p:txBody>
      </p:sp>
      <p:sp>
        <p:nvSpPr>
          <p:cNvPr id="4" name="Text 2"/>
          <p:cNvSpPr/>
          <p:nvPr/>
        </p:nvSpPr>
        <p:spPr>
          <a:xfrm>
            <a:off x="502920" y="54864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5 scenarios that happen in Australian</a:t>
            </a:r>
            <a:endParaRPr lang="en-US" sz="2600" dirty="0"/>
          </a:p>
          <a:p>
            <a:pPr indent="0" marL="0">
              <a:buNone/>
            </a:pPr>
            <a:r>
              <a:rPr lang="en-US" sz="2600" b="1" dirty="0">
                <a:solidFill>
                  <a:srgbClr val="FFFFFF"/>
                </a:solidFill>
                <a:latin typeface="Calibri" pitchFamily="34" charset="0"/>
                <a:ea typeface="Calibri" pitchFamily="34" charset="-122"/>
                <a:cs typeface="Calibri" pitchFamily="34" charset="-120"/>
              </a:rPr>
              <a:t>fleets every single week</a:t>
            </a:r>
            <a:endParaRPr lang="en-US" sz="2600" dirty="0"/>
          </a:p>
        </p:txBody>
      </p:sp>
      <p:sp>
        <p:nvSpPr>
          <p:cNvPr id="5" name="Shape 3"/>
          <p:cNvSpPr/>
          <p:nvPr/>
        </p:nvSpPr>
        <p:spPr>
          <a:xfrm>
            <a:off x="502920" y="1417320"/>
            <a:ext cx="11155680" cy="0"/>
          </a:xfrm>
          <a:prstGeom prst="line">
            <a:avLst/>
          </a:prstGeom>
          <a:noFill/>
          <a:ln w="5080">
            <a:solidFill>
              <a:srgbClr val="FFFFFF">
                <a:alpha val="20000"/>
              </a:srgbClr>
            </a:solidFill>
            <a:prstDash val="solid"/>
          </a:ln>
        </p:spPr>
      </p:sp>
      <p:sp>
        <p:nvSpPr>
          <p:cNvPr id="6" name="Shape 4"/>
          <p:cNvSpPr/>
          <p:nvPr/>
        </p:nvSpPr>
        <p:spPr>
          <a:xfrm>
            <a:off x="411480" y="1600200"/>
            <a:ext cx="3474720" cy="2148840"/>
          </a:xfrm>
          <a:prstGeom prst="roundRect">
            <a:avLst>
              <a:gd name="adj" fmla="val 3404"/>
            </a:avLst>
          </a:prstGeom>
          <a:solidFill>
            <a:srgbClr val="13131F"/>
          </a:solidFill>
          <a:ln w="12700">
            <a:solidFill>
              <a:srgbClr val="EF4444">
                <a:alpha val="50000"/>
              </a:srgbClr>
            </a:solidFill>
            <a:prstDash val="solid"/>
          </a:ln>
        </p:spPr>
      </p:sp>
      <p:sp>
        <p:nvSpPr>
          <p:cNvPr id="7" name="Text 5"/>
          <p:cNvSpPr/>
          <p:nvPr/>
        </p:nvSpPr>
        <p:spPr>
          <a:xfrm>
            <a:off x="576072" y="1764792"/>
            <a:ext cx="3145536"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Scenario 1 — Breakdown on M7 at 2am</a:t>
            </a:r>
            <a:endParaRPr lang="en-US" sz="1100" dirty="0"/>
          </a:p>
        </p:txBody>
      </p:sp>
      <p:sp>
        <p:nvSpPr>
          <p:cNvPr id="8" name="Text 6"/>
          <p:cNvSpPr/>
          <p:nvPr/>
        </p:nvSpPr>
        <p:spPr>
          <a:xfrm>
            <a:off x="576072" y="2057400"/>
            <a:ext cx="3145536" cy="155448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Driver calls the depot 1300 number. No routing in place — goes to voicemail. Driver calls the day supervisor's personal mobile (saved from last week). Day supervisor is asleep, doesn't answer. Driver waits 45 minutes roadside before calling again.</a:t>
            </a:r>
            <a:endParaRPr lang="en-US" sz="950" dirty="0"/>
          </a:p>
          <a:p>
            <a:pPr indent="0" marL="0">
              <a:buNone/>
            </a:pP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Cost: 45 min driver idle ($28), delayed delivery, customer notified late.</a:t>
            </a:r>
            <a:endParaRPr lang="en-US" sz="950" dirty="0"/>
          </a:p>
        </p:txBody>
      </p:sp>
      <p:sp>
        <p:nvSpPr>
          <p:cNvPr id="9" name="Shape 7"/>
          <p:cNvSpPr/>
          <p:nvPr/>
        </p:nvSpPr>
        <p:spPr>
          <a:xfrm>
            <a:off x="4251960" y="1600200"/>
            <a:ext cx="3474720" cy="2148840"/>
          </a:xfrm>
          <a:prstGeom prst="roundRect">
            <a:avLst>
              <a:gd name="adj" fmla="val 3404"/>
            </a:avLst>
          </a:prstGeom>
          <a:solidFill>
            <a:srgbClr val="13131F"/>
          </a:solidFill>
          <a:ln w="12700">
            <a:solidFill>
              <a:srgbClr val="F59E0B">
                <a:alpha val="50000"/>
              </a:srgbClr>
            </a:solidFill>
            <a:prstDash val="solid"/>
          </a:ln>
        </p:spPr>
      </p:sp>
      <p:sp>
        <p:nvSpPr>
          <p:cNvPr id="10" name="Text 8"/>
          <p:cNvSpPr/>
          <p:nvPr/>
        </p:nvSpPr>
        <p:spPr>
          <a:xfrm>
            <a:off x="4416552" y="1764792"/>
            <a:ext cx="3145536"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Scenario 2 — Shift changeover at 2pm</a:t>
            </a:r>
            <a:endParaRPr lang="en-US" sz="1100" dirty="0"/>
          </a:p>
        </p:txBody>
      </p:sp>
      <p:sp>
        <p:nvSpPr>
          <p:cNvPr id="11" name="Text 9"/>
          <p:cNvSpPr/>
          <p:nvPr/>
        </p:nvSpPr>
        <p:spPr>
          <a:xfrm>
            <a:off x="4416552" y="2057400"/>
            <a:ext cx="3145536" cy="155448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Day supervisor finishes at 2pm. Afternoon supervisor starts. Nobody updates the WhatsApp group. Three drivers message the old supervisor between 2pm and 4pm. Messages sit unread. A time-sensitive delivery window is missed.</a:t>
            </a:r>
            <a:endParaRPr lang="en-US" sz="950" dirty="0"/>
          </a:p>
          <a:p>
            <a:pPr indent="0" marL="0">
              <a:buNone/>
            </a:pP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Cost: 1 SLA breach ($1,300 credit), customer complaint logged.</a:t>
            </a:r>
            <a:endParaRPr lang="en-US" sz="950" dirty="0"/>
          </a:p>
        </p:txBody>
      </p:sp>
      <p:sp>
        <p:nvSpPr>
          <p:cNvPr id="12" name="Shape 10"/>
          <p:cNvSpPr/>
          <p:nvPr/>
        </p:nvSpPr>
        <p:spPr>
          <a:xfrm>
            <a:off x="8092440" y="1600200"/>
            <a:ext cx="3474720" cy="2148840"/>
          </a:xfrm>
          <a:prstGeom prst="roundRect">
            <a:avLst>
              <a:gd name="adj" fmla="val 3404"/>
            </a:avLst>
          </a:prstGeom>
          <a:solidFill>
            <a:srgbClr val="13131F"/>
          </a:solidFill>
          <a:ln w="12700">
            <a:solidFill>
              <a:srgbClr val="EF4444">
                <a:alpha val="50000"/>
              </a:srgbClr>
            </a:solidFill>
            <a:prstDash val="solid"/>
          </a:ln>
        </p:spPr>
      </p:sp>
      <p:sp>
        <p:nvSpPr>
          <p:cNvPr id="13" name="Text 11"/>
          <p:cNvSpPr/>
          <p:nvPr/>
        </p:nvSpPr>
        <p:spPr>
          <a:xfrm>
            <a:off x="8257032" y="1764792"/>
            <a:ext cx="3145536"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Scenario 3 — Public holiday, wrong supervisor on call</a:t>
            </a:r>
            <a:endParaRPr lang="en-US" sz="1100" dirty="0"/>
          </a:p>
        </p:txBody>
      </p:sp>
      <p:sp>
        <p:nvSpPr>
          <p:cNvPr id="14" name="Text 12"/>
          <p:cNvSpPr/>
          <p:nvPr/>
        </p:nvSpPr>
        <p:spPr>
          <a:xfrm>
            <a:off x="8257032" y="2057400"/>
            <a:ext cx="3145536" cy="155448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Public holiday roster wasn't updated in the shared contact list. Drivers calling in reach the weekday supervisor who has no authority or information about the day's runs. Three calls are bounced between staff for 20 minutes each before reaching the right person.</a:t>
            </a:r>
            <a:endParaRPr lang="en-US" sz="950" dirty="0"/>
          </a:p>
          <a:p>
            <a:pPr indent="0" marL="0">
              <a:buNone/>
            </a:pP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Cost: 3 × 20 min delays, 1 missed delivery window, reputational damage.</a:t>
            </a:r>
            <a:endParaRPr lang="en-US" sz="950" dirty="0"/>
          </a:p>
        </p:txBody>
      </p:sp>
      <p:sp>
        <p:nvSpPr>
          <p:cNvPr id="15" name="Shape 13"/>
          <p:cNvSpPr/>
          <p:nvPr/>
        </p:nvSpPr>
        <p:spPr>
          <a:xfrm>
            <a:off x="2331720" y="3931920"/>
            <a:ext cx="3474720" cy="2148840"/>
          </a:xfrm>
          <a:prstGeom prst="roundRect">
            <a:avLst>
              <a:gd name="adj" fmla="val 3404"/>
            </a:avLst>
          </a:prstGeom>
          <a:solidFill>
            <a:srgbClr val="13131F"/>
          </a:solidFill>
          <a:ln w="12700">
            <a:solidFill>
              <a:srgbClr val="F59E0B">
                <a:alpha val="50000"/>
              </a:srgbClr>
            </a:solidFill>
            <a:prstDash val="solid"/>
          </a:ln>
        </p:spPr>
      </p:sp>
      <p:sp>
        <p:nvSpPr>
          <p:cNvPr id="16" name="Text 14"/>
          <p:cNvSpPr/>
          <p:nvPr/>
        </p:nvSpPr>
        <p:spPr>
          <a:xfrm>
            <a:off x="2496312" y="4096512"/>
            <a:ext cx="3145536"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Scenario 4 — No audit trail, disputed delivery</a:t>
            </a:r>
            <a:endParaRPr lang="en-US" sz="1100" dirty="0"/>
          </a:p>
        </p:txBody>
      </p:sp>
      <p:sp>
        <p:nvSpPr>
          <p:cNvPr id="17" name="Text 15"/>
          <p:cNvSpPr/>
          <p:nvPr/>
        </p:nvSpPr>
        <p:spPr>
          <a:xfrm>
            <a:off x="2496312" y="4389120"/>
            <a:ext cx="3145536" cy="155448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Customer claims they were never notified of a delay. Operations manager checks the WhatsApp group — messages are scattered across 3 different group chats and personal threads. No timestamp evidence. Customer threatens to withhold payment.</a:t>
            </a:r>
            <a:endParaRPr lang="en-US" sz="950" dirty="0"/>
          </a:p>
          <a:p>
            <a:pPr indent="0" marL="0">
              <a:buNone/>
            </a:pP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Cost: Invoice dispute, legal time, potential $4,000–$8,000 write-off.</a:t>
            </a:r>
            <a:endParaRPr lang="en-US" sz="950" dirty="0"/>
          </a:p>
        </p:txBody>
      </p:sp>
      <p:sp>
        <p:nvSpPr>
          <p:cNvPr id="18" name="Shape 16"/>
          <p:cNvSpPr/>
          <p:nvPr/>
        </p:nvSpPr>
        <p:spPr>
          <a:xfrm>
            <a:off x="6172200" y="3931920"/>
            <a:ext cx="3474720" cy="2148840"/>
          </a:xfrm>
          <a:prstGeom prst="roundRect">
            <a:avLst>
              <a:gd name="adj" fmla="val 3404"/>
            </a:avLst>
          </a:prstGeom>
          <a:solidFill>
            <a:srgbClr val="13131F"/>
          </a:solidFill>
          <a:ln w="12700">
            <a:solidFill>
              <a:srgbClr val="06B6D4">
                <a:alpha val="50000"/>
              </a:srgbClr>
            </a:solidFill>
            <a:prstDash val="solid"/>
          </a:ln>
        </p:spPr>
      </p:sp>
      <p:sp>
        <p:nvSpPr>
          <p:cNvPr id="19" name="Text 17"/>
          <p:cNvSpPr/>
          <p:nvPr/>
        </p:nvSpPr>
        <p:spPr>
          <a:xfrm>
            <a:off x="6336792" y="4096512"/>
            <a:ext cx="3145536"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Scenario 5 — Urgent load reassignment</a:t>
            </a:r>
            <a:endParaRPr lang="en-US" sz="1100" dirty="0"/>
          </a:p>
        </p:txBody>
      </p:sp>
      <p:sp>
        <p:nvSpPr>
          <p:cNvPr id="20" name="Text 18"/>
          <p:cNvSpPr/>
          <p:nvPr/>
        </p:nvSpPr>
        <p:spPr>
          <a:xfrm>
            <a:off x="6336792" y="4389120"/>
            <a:ext cx="3145536" cy="155448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A truck breaks down mid-run. Dispatch needs to contact the closest available driver immediately. Without a routing system, dispatch manually calls 6 drivers before finding one who can take the load. 35 minutes lost.</a:t>
            </a:r>
            <a:endParaRPr lang="en-US" sz="950" dirty="0"/>
          </a:p>
          <a:p>
            <a:pPr indent="0" marL="0">
              <a:buNone/>
            </a:pPr>
            <a:endParaRPr lang="en-US" sz="950" dirty="0"/>
          </a:p>
          <a:p>
            <a:pPr indent="0" marL="0">
              <a:buNone/>
            </a:pPr>
            <a:r>
              <a:rPr lang="en-US" sz="950" dirty="0">
                <a:solidFill>
                  <a:srgbClr val="94A3B8"/>
                </a:solidFill>
                <a:latin typeface="Calibri" pitchFamily="34" charset="0"/>
                <a:ea typeface="Calibri" pitchFamily="34" charset="-122"/>
                <a:cs typeface="Calibri" pitchFamily="34" charset="-120"/>
              </a:rPr>
              <a:t>Cost: 35 min downtime, late delivery, overtime for the reassigned driver.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w="12700">
            <a:solidFill>
              <a:srgbClr val="0A0A0F"/>
            </a:solidFill>
            <a:prstDash val="solid"/>
          </a:ln>
        </p:spPr>
      </p:sp>
      <p:sp>
        <p:nvSpPr>
          <p:cNvPr id="3" name="Text 1"/>
          <p:cNvSpPr/>
          <p:nvPr/>
        </p:nvSpPr>
        <p:spPr>
          <a:xfrm>
            <a:off x="502920" y="320040"/>
            <a:ext cx="6400800" cy="201168"/>
          </a:xfrm>
          <a:prstGeom prst="rect">
            <a:avLst/>
          </a:prstGeom>
          <a:noFill/>
          <a:ln/>
        </p:spPr>
        <p:txBody>
          <a:bodyPr wrap="square" rtlCol="0" anchor="ctr"/>
          <a:lstStyle/>
          <a:p>
            <a:pPr indent="0" marL="0">
              <a:buNone/>
            </a:pPr>
            <a:r>
              <a:rPr lang="en-US" sz="800" b="1" spc="300" kern="0" dirty="0">
                <a:solidFill>
                  <a:srgbClr val="06B6D4"/>
                </a:solidFill>
                <a:latin typeface="Calibri" pitchFamily="34" charset="0"/>
                <a:ea typeface="Calibri" pitchFamily="34" charset="-122"/>
                <a:cs typeface="Calibri" pitchFamily="34" charset="-120"/>
              </a:rPr>
              <a:t>YOUR TRUE COST — 100 DRIVER FLEET</a:t>
            </a:r>
            <a:endParaRPr lang="en-US" sz="800" dirty="0"/>
          </a:p>
        </p:txBody>
      </p:sp>
      <p:sp>
        <p:nvSpPr>
          <p:cNvPr id="4" name="Text 2"/>
          <p:cNvSpPr/>
          <p:nvPr/>
        </p:nvSpPr>
        <p:spPr>
          <a:xfrm>
            <a:off x="502920" y="54864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communication failure is</a:t>
            </a:r>
            <a:endParaRPr lang="en-US" sz="2600" dirty="0"/>
          </a:p>
          <a:p>
            <a:pPr indent="0" marL="0">
              <a:buNone/>
            </a:pPr>
            <a:r>
              <a:rPr lang="en-US" sz="2600" b="1" dirty="0">
                <a:solidFill>
                  <a:srgbClr val="FFFFFF"/>
                </a:solidFill>
                <a:latin typeface="Calibri" pitchFamily="34" charset="0"/>
                <a:ea typeface="Calibri" pitchFamily="34" charset="-122"/>
                <a:cs typeface="Calibri" pitchFamily="34" charset="-120"/>
              </a:rPr>
              <a:t>costing your business right now</a:t>
            </a:r>
            <a:endParaRPr lang="en-US" sz="2600" dirty="0"/>
          </a:p>
        </p:txBody>
      </p:sp>
      <p:sp>
        <p:nvSpPr>
          <p:cNvPr id="5" name="Shape 3"/>
          <p:cNvSpPr/>
          <p:nvPr/>
        </p:nvSpPr>
        <p:spPr>
          <a:xfrm>
            <a:off x="502920" y="1417320"/>
            <a:ext cx="11155680" cy="0"/>
          </a:xfrm>
          <a:prstGeom prst="line">
            <a:avLst/>
          </a:prstGeom>
          <a:noFill/>
          <a:ln w="5080">
            <a:solidFill>
              <a:srgbClr val="FFFFFF">
                <a:alpha val="20000"/>
              </a:srgbClr>
            </a:solidFill>
            <a:prstDash val="solid"/>
          </a:ln>
        </p:spPr>
      </p:sp>
      <p:sp>
        <p:nvSpPr>
          <p:cNvPr id="6" name="Text 4"/>
          <p:cNvSpPr/>
          <p:nvPr/>
        </p:nvSpPr>
        <p:spPr>
          <a:xfrm>
            <a:off x="502920" y="1508760"/>
            <a:ext cx="100584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Conservative estimates based on a 100-driver fleet, 3 shifts, 5 days/week operation.</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828800"/>
          <a:ext cx="11338560" cy="4389120"/>
        </p:xfrm>
        <a:graphic>
          <a:graphicData uri="http://schemas.openxmlformats.org/drawingml/2006/table">
            <a:tbl>
              <a:tblPr/>
              <a:tblGrid>
                <a:gridCol w="2267712"/>
                <a:gridCol w="2267712"/>
                <a:gridCol w="2267712"/>
                <a:gridCol w="2267712"/>
                <a:gridCol w="2267712"/>
              </a:tblGrid>
              <a:tr h="566928">
                <a:tc>
                  <a:txBody>
                    <a:bodyPr/>
                    <a:lstStyle/>
                    <a:p>
                      <a:pPr algn="l" indent="0" marL="0">
                        <a:buNone/>
                      </a:pPr>
                      <a:r>
                        <a:rPr lang="en-US" sz="1100" b="1" dirty="0">
                          <a:solidFill>
                            <a:srgbClr val="06B6D4"/>
                          </a:solidFill>
                          <a:latin typeface="Calibri" pitchFamily="34" charset="0"/>
                          <a:ea typeface="Calibri" pitchFamily="34" charset="-122"/>
                          <a:cs typeface="Calibri" pitchFamily="34" charset="-120"/>
                        </a:rPr>
                        <a:t>Failure type</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b="1" dirty="0">
                          <a:solidFill>
                            <a:srgbClr val="06B6D4"/>
                          </a:solidFill>
                          <a:latin typeface="Calibri" pitchFamily="34" charset="0"/>
                          <a:ea typeface="Calibri" pitchFamily="34" charset="-122"/>
                          <a:cs typeface="Calibri" pitchFamily="34" charset="-120"/>
                        </a:rPr>
                        <a:t>Frequency</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b="1" dirty="0">
                          <a:solidFill>
                            <a:srgbClr val="06B6D4"/>
                          </a:solidFill>
                          <a:latin typeface="Calibri" pitchFamily="34" charset="0"/>
                          <a:ea typeface="Calibri" pitchFamily="34" charset="-122"/>
                          <a:cs typeface="Calibri" pitchFamily="34" charset="-120"/>
                        </a:rPr>
                        <a:t>Cost per event</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b="1" dirty="0">
                          <a:solidFill>
                            <a:srgbClr val="06B6D4"/>
                          </a:solidFill>
                          <a:latin typeface="Calibri" pitchFamily="34" charset="0"/>
                          <a:ea typeface="Calibri" pitchFamily="34" charset="-122"/>
                          <a:cs typeface="Calibri" pitchFamily="34" charset="-120"/>
                        </a:rPr>
                        <a:t>Weekly cost</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b="1" dirty="0">
                          <a:solidFill>
                            <a:srgbClr val="06B6D4"/>
                          </a:solidFill>
                          <a:latin typeface="Calibri" pitchFamily="34" charset="0"/>
                          <a:ea typeface="Calibri" pitchFamily="34" charset="-122"/>
                          <a:cs typeface="Calibri" pitchFamily="34" charset="-120"/>
                        </a:rPr>
                        <a:t>Annual cost</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r>
              <a:tr h="566928">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Mis-routed call (30 min delay)</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10×/week</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$190</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$9,880</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r>
              <a:tr h="566928">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Unanswered message (shift change)</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5×/week</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$285</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$14,820</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r>
              <a:tr h="566928">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Breakdown — slow supervisor response</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2×/week</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$26,000</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r>
              <a:tr h="566928">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SLA breach from delayed comms</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1×/week</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$1,300</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$1,300</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$67,600</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r>
              <a:tr h="566928">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Wrong person called — overtime admin</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3×/week</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$76</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$228</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dirty="0">
                          <a:solidFill>
                            <a:srgbClr val="E2E8F0"/>
                          </a:solidFill>
                          <a:latin typeface="Calibri" pitchFamily="34" charset="0"/>
                          <a:ea typeface="Calibri" pitchFamily="34" charset="-122"/>
                          <a:cs typeface="Calibri" pitchFamily="34" charset="-120"/>
                        </a:rPr>
                        <a:t>$11,856</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r>
              <a:tr h="56692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TOTAL ESTIMATED LOSS</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b="1" dirty="0">
                          <a:solidFill>
                            <a:srgbClr val="EF4444"/>
                          </a:solidFill>
                          <a:latin typeface="Calibri" pitchFamily="34" charset="0"/>
                          <a:ea typeface="Calibri" pitchFamily="34" charset="-122"/>
                          <a:cs typeface="Calibri" pitchFamily="34" charset="-120"/>
                        </a:rPr>
                        <a:t>$2,503/wk</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c>
                  <a:txBody>
                    <a:bodyPr/>
                    <a:lstStyle/>
                    <a:p>
                      <a:pPr algn="l" indent="0" marL="0">
                        <a:buNone/>
                      </a:pPr>
                      <a:r>
                        <a:rPr lang="en-US" sz="1100" b="1" dirty="0">
                          <a:solidFill>
                            <a:srgbClr val="EF4444"/>
                          </a:solidFill>
                          <a:latin typeface="Calibri" pitchFamily="34" charset="0"/>
                          <a:ea typeface="Calibri" pitchFamily="34" charset="-122"/>
                          <a:cs typeface="Calibri" pitchFamily="34" charset="-120"/>
                        </a:rPr>
                        <a:t>$130,156/yr</a:t>
                      </a:r>
                      <a:endParaRPr lang="en-US" sz="1100" dirty="0">
                        <a:latin typeface="Calibri" charset="0"/>
                        <a:ea typeface="Calibri" charset="0"/>
                        <a:cs typeface="Calibri" charset="0"/>
                      </a:endParaRPr>
                    </a:p>
                  </a:txBody>
                  <a:tcPr marL="91440" marR="91440" marT="45720" marB="4572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13131F"/>
                    </a:solidFill>
                  </a:tcPr>
                </a:tc>
              </a:tr>
            </a:tbl>
          </a:graphicData>
        </a:graphic>
      </p:graphicFrame>
      <p:sp>
        <p:nvSpPr>
          <p:cNvPr id="8" name="Text 5"/>
          <p:cNvSpPr/>
          <p:nvPr/>
        </p:nvSpPr>
        <p:spPr>
          <a:xfrm>
            <a:off x="502920" y="6492240"/>
            <a:ext cx="10972800" cy="228600"/>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 Costs based on Australian driver avg rate $38/hr (ABS 2025), SLA breach data (SprintLaw AU), industry downtime benchmarks.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w="12700">
            <a:solidFill>
              <a:srgbClr val="0A0A0F"/>
            </a:solidFill>
            <a:prstDash val="solid"/>
          </a:ln>
        </p:spPr>
      </p:sp>
      <p:sp>
        <p:nvSpPr>
          <p:cNvPr id="3" name="Text 1"/>
          <p:cNvSpPr/>
          <p:nvPr/>
        </p:nvSpPr>
        <p:spPr>
          <a:xfrm>
            <a:off x="502920" y="320040"/>
            <a:ext cx="6400800" cy="201168"/>
          </a:xfrm>
          <a:prstGeom prst="rect">
            <a:avLst/>
          </a:prstGeom>
          <a:noFill/>
          <a:ln/>
        </p:spPr>
        <p:txBody>
          <a:bodyPr wrap="square" rtlCol="0" anchor="ctr"/>
          <a:lstStyle/>
          <a:p>
            <a:pPr indent="0" marL="0">
              <a:buNone/>
            </a:pPr>
            <a:r>
              <a:rPr lang="en-US" sz="800" b="1" spc="300" kern="0" dirty="0">
                <a:solidFill>
                  <a:srgbClr val="06B6D4"/>
                </a:solidFill>
                <a:latin typeface="Calibri" pitchFamily="34" charset="0"/>
                <a:ea typeface="Calibri" pitchFamily="34" charset="-122"/>
                <a:cs typeface="Calibri" pitchFamily="34" charset="-120"/>
              </a:rPr>
              <a:t>ROOT CAUSE ANALYSIS</a:t>
            </a:r>
            <a:endParaRPr lang="en-US" sz="800" dirty="0"/>
          </a:p>
        </p:txBody>
      </p:sp>
      <p:sp>
        <p:nvSpPr>
          <p:cNvPr id="4" name="Text 2"/>
          <p:cNvSpPr/>
          <p:nvPr/>
        </p:nvSpPr>
        <p:spPr>
          <a:xfrm>
            <a:off x="502920" y="54864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real problem isn't your people.</a:t>
            </a:r>
            <a:endParaRPr lang="en-US" sz="2600" dirty="0"/>
          </a:p>
          <a:p>
            <a:pPr indent="0" marL="0">
              <a:buNone/>
            </a:pPr>
            <a:r>
              <a:rPr lang="en-US" sz="2600" b="1" dirty="0">
                <a:solidFill>
                  <a:srgbClr val="FFFFFF"/>
                </a:solidFill>
                <a:latin typeface="Calibri" pitchFamily="34" charset="0"/>
                <a:ea typeface="Calibri" pitchFamily="34" charset="-122"/>
                <a:cs typeface="Calibri" pitchFamily="34" charset="-120"/>
              </a:rPr>
              <a:t>It's your routing.</a:t>
            </a:r>
            <a:endParaRPr lang="en-US" sz="2600" dirty="0"/>
          </a:p>
        </p:txBody>
      </p:sp>
      <p:sp>
        <p:nvSpPr>
          <p:cNvPr id="5" name="Shape 3"/>
          <p:cNvSpPr/>
          <p:nvPr/>
        </p:nvSpPr>
        <p:spPr>
          <a:xfrm>
            <a:off x="502920" y="1417320"/>
            <a:ext cx="11155680" cy="0"/>
          </a:xfrm>
          <a:prstGeom prst="line">
            <a:avLst/>
          </a:prstGeom>
          <a:noFill/>
          <a:ln w="5080">
            <a:solidFill>
              <a:srgbClr val="FFFFFF">
                <a:alpha val="20000"/>
              </a:srgbClr>
            </a:solidFill>
            <a:prstDash val="solid"/>
          </a:ln>
        </p:spPr>
      </p:sp>
      <p:sp>
        <p:nvSpPr>
          <p:cNvPr id="6" name="Shape 4"/>
          <p:cNvSpPr/>
          <p:nvPr/>
        </p:nvSpPr>
        <p:spPr>
          <a:xfrm>
            <a:off x="411480" y="1600200"/>
            <a:ext cx="5394960" cy="4754880"/>
          </a:xfrm>
          <a:prstGeom prst="roundRect">
            <a:avLst>
              <a:gd name="adj" fmla="val 1923"/>
            </a:avLst>
          </a:prstGeom>
          <a:solidFill>
            <a:srgbClr val="13131F"/>
          </a:solidFill>
          <a:ln w="12700">
            <a:solidFill>
              <a:srgbClr val="EF4444">
                <a:alpha val="50000"/>
              </a:srgbClr>
            </a:solidFill>
            <a:prstDash val="solid"/>
          </a:ln>
        </p:spPr>
      </p:sp>
      <p:sp>
        <p:nvSpPr>
          <p:cNvPr id="7" name="Text 5"/>
          <p:cNvSpPr/>
          <p:nvPr/>
        </p:nvSpPr>
        <p:spPr>
          <a:xfrm>
            <a:off x="594360" y="1737360"/>
            <a:ext cx="5029200" cy="274320"/>
          </a:xfrm>
          <a:prstGeom prst="rect">
            <a:avLst/>
          </a:prstGeom>
          <a:noFill/>
          <a:ln/>
        </p:spPr>
        <p:txBody>
          <a:bodyPr wrap="square" lIns="0" tIns="0" rIns="0" bIns="0" rtlCol="0" anchor="ctr"/>
          <a:lstStyle/>
          <a:p>
            <a:pPr indent="0" marL="0">
              <a:buNone/>
            </a:pPr>
            <a:r>
              <a:rPr lang="en-US" sz="1000" b="1" spc="200" kern="0" dirty="0">
                <a:solidFill>
                  <a:srgbClr val="EF4444"/>
                </a:solidFill>
                <a:latin typeface="Calibri" pitchFamily="34" charset="0"/>
                <a:ea typeface="Calibri" pitchFamily="34" charset="-122"/>
                <a:cs typeface="Calibri" pitchFamily="34" charset="-120"/>
              </a:rPr>
              <a:t>WITHOUT XIARO</a:t>
            </a:r>
            <a:endParaRPr lang="en-US" sz="1000" dirty="0"/>
          </a:p>
        </p:txBody>
      </p:sp>
      <p:sp>
        <p:nvSpPr>
          <p:cNvPr id="8" name="Shape 6"/>
          <p:cNvSpPr/>
          <p:nvPr/>
        </p:nvSpPr>
        <p:spPr>
          <a:xfrm>
            <a:off x="594360" y="2148840"/>
            <a:ext cx="128016" cy="128016"/>
          </a:xfrm>
          <a:prstGeom prst="ellipse">
            <a:avLst/>
          </a:prstGeom>
          <a:solidFill>
            <a:srgbClr val="EF4444">
              <a:alpha val="40000"/>
            </a:srgbClr>
          </a:solidFill>
          <a:ln w="6350">
            <a:solidFill>
              <a:srgbClr val="EF4444"/>
            </a:solidFill>
            <a:prstDash val="solid"/>
          </a:ln>
        </p:spPr>
      </p:sp>
      <p:sp>
        <p:nvSpPr>
          <p:cNvPr id="9" name="Text 7"/>
          <p:cNvSpPr/>
          <p:nvPr/>
        </p:nvSpPr>
        <p:spPr>
          <a:xfrm>
            <a:off x="594360" y="2121408"/>
            <a:ext cx="146304" cy="164592"/>
          </a:xfrm>
          <a:prstGeom prst="rect">
            <a:avLst/>
          </a:prstGeom>
          <a:noFill/>
          <a:ln/>
        </p:spPr>
        <p:txBody>
          <a:bodyPr wrap="square" lIns="0" tIns="0" rIns="0" bIns="0" rtlCol="0" anchor="ctr"/>
          <a:lstStyle/>
          <a:p>
            <a:pPr algn="ctr" indent="0" marL="0">
              <a:buNone/>
            </a:pPr>
            <a:r>
              <a:rPr lang="en-US" sz="700" b="1" dirty="0">
                <a:solidFill>
                  <a:srgbClr val="EF4444"/>
                </a:solidFill>
                <a:latin typeface="Calibri" pitchFamily="34" charset="0"/>
                <a:ea typeface="Calibri" pitchFamily="34" charset="-122"/>
                <a:cs typeface="Calibri" pitchFamily="34" charset="-120"/>
              </a:rPr>
              <a:t>✕</a:t>
            </a:r>
            <a:endParaRPr lang="en-US" sz="700" dirty="0"/>
          </a:p>
        </p:txBody>
      </p:sp>
      <p:sp>
        <p:nvSpPr>
          <p:cNvPr id="10" name="Text 8"/>
          <p:cNvSpPr/>
          <p:nvPr/>
        </p:nvSpPr>
        <p:spPr>
          <a:xfrm>
            <a:off x="795528" y="2121408"/>
            <a:ext cx="4754880" cy="237744"/>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Drivers save personal mobile numbers</a:t>
            </a:r>
            <a:endParaRPr lang="en-US" sz="1050" dirty="0"/>
          </a:p>
        </p:txBody>
      </p:sp>
      <p:sp>
        <p:nvSpPr>
          <p:cNvPr id="11" name="Shape 9"/>
          <p:cNvSpPr/>
          <p:nvPr/>
        </p:nvSpPr>
        <p:spPr>
          <a:xfrm>
            <a:off x="594360" y="2624328"/>
            <a:ext cx="128016" cy="128016"/>
          </a:xfrm>
          <a:prstGeom prst="ellipse">
            <a:avLst/>
          </a:prstGeom>
          <a:solidFill>
            <a:srgbClr val="EF4444">
              <a:alpha val="40000"/>
            </a:srgbClr>
          </a:solidFill>
          <a:ln w="6350">
            <a:solidFill>
              <a:srgbClr val="EF4444"/>
            </a:solidFill>
            <a:prstDash val="solid"/>
          </a:ln>
        </p:spPr>
      </p:sp>
      <p:sp>
        <p:nvSpPr>
          <p:cNvPr id="12" name="Text 10"/>
          <p:cNvSpPr/>
          <p:nvPr/>
        </p:nvSpPr>
        <p:spPr>
          <a:xfrm>
            <a:off x="594360" y="2596896"/>
            <a:ext cx="146304" cy="164592"/>
          </a:xfrm>
          <a:prstGeom prst="rect">
            <a:avLst/>
          </a:prstGeom>
          <a:noFill/>
          <a:ln/>
        </p:spPr>
        <p:txBody>
          <a:bodyPr wrap="square" lIns="0" tIns="0" rIns="0" bIns="0" rtlCol="0" anchor="ctr"/>
          <a:lstStyle/>
          <a:p>
            <a:pPr algn="ctr" indent="0" marL="0">
              <a:buNone/>
            </a:pPr>
            <a:r>
              <a:rPr lang="en-US" sz="700" b="1" dirty="0">
                <a:solidFill>
                  <a:srgbClr val="EF4444"/>
                </a:solidFill>
                <a:latin typeface="Calibri" pitchFamily="34" charset="0"/>
                <a:ea typeface="Calibri" pitchFamily="34" charset="-122"/>
                <a:cs typeface="Calibri" pitchFamily="34" charset="-120"/>
              </a:rPr>
              <a:t>✕</a:t>
            </a:r>
            <a:endParaRPr lang="en-US" sz="700" dirty="0"/>
          </a:p>
        </p:txBody>
      </p:sp>
      <p:sp>
        <p:nvSpPr>
          <p:cNvPr id="13" name="Text 11"/>
          <p:cNvSpPr/>
          <p:nvPr/>
        </p:nvSpPr>
        <p:spPr>
          <a:xfrm>
            <a:off x="795528" y="2596896"/>
            <a:ext cx="4754880" cy="237744"/>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Roster changes are manual and error-prone</a:t>
            </a:r>
            <a:endParaRPr lang="en-US" sz="1050" dirty="0"/>
          </a:p>
        </p:txBody>
      </p:sp>
      <p:sp>
        <p:nvSpPr>
          <p:cNvPr id="14" name="Shape 12"/>
          <p:cNvSpPr/>
          <p:nvPr/>
        </p:nvSpPr>
        <p:spPr>
          <a:xfrm>
            <a:off x="594360" y="3099816"/>
            <a:ext cx="128016" cy="128016"/>
          </a:xfrm>
          <a:prstGeom prst="ellipse">
            <a:avLst/>
          </a:prstGeom>
          <a:solidFill>
            <a:srgbClr val="EF4444">
              <a:alpha val="40000"/>
            </a:srgbClr>
          </a:solidFill>
          <a:ln w="6350">
            <a:solidFill>
              <a:srgbClr val="EF4444"/>
            </a:solidFill>
            <a:prstDash val="solid"/>
          </a:ln>
        </p:spPr>
      </p:sp>
      <p:sp>
        <p:nvSpPr>
          <p:cNvPr id="15" name="Text 13"/>
          <p:cNvSpPr/>
          <p:nvPr/>
        </p:nvSpPr>
        <p:spPr>
          <a:xfrm>
            <a:off x="594360" y="3072384"/>
            <a:ext cx="146304" cy="164592"/>
          </a:xfrm>
          <a:prstGeom prst="rect">
            <a:avLst/>
          </a:prstGeom>
          <a:noFill/>
          <a:ln/>
        </p:spPr>
        <p:txBody>
          <a:bodyPr wrap="square" lIns="0" tIns="0" rIns="0" bIns="0" rtlCol="0" anchor="ctr"/>
          <a:lstStyle/>
          <a:p>
            <a:pPr algn="ctr" indent="0" marL="0">
              <a:buNone/>
            </a:pPr>
            <a:r>
              <a:rPr lang="en-US" sz="700" b="1" dirty="0">
                <a:solidFill>
                  <a:srgbClr val="EF4444"/>
                </a:solidFill>
                <a:latin typeface="Calibri" pitchFamily="34" charset="0"/>
                <a:ea typeface="Calibri" pitchFamily="34" charset="-122"/>
                <a:cs typeface="Calibri" pitchFamily="34" charset="-120"/>
              </a:rPr>
              <a:t>✕</a:t>
            </a:r>
            <a:endParaRPr lang="en-US" sz="700" dirty="0"/>
          </a:p>
        </p:txBody>
      </p:sp>
      <p:sp>
        <p:nvSpPr>
          <p:cNvPr id="16" name="Text 14"/>
          <p:cNvSpPr/>
          <p:nvPr/>
        </p:nvSpPr>
        <p:spPr>
          <a:xfrm>
            <a:off x="795528" y="3072384"/>
            <a:ext cx="4754880" cy="237744"/>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Messages sent to group chats — no accountability</a:t>
            </a:r>
            <a:endParaRPr lang="en-US" sz="1050" dirty="0"/>
          </a:p>
        </p:txBody>
      </p:sp>
      <p:sp>
        <p:nvSpPr>
          <p:cNvPr id="17" name="Shape 15"/>
          <p:cNvSpPr/>
          <p:nvPr/>
        </p:nvSpPr>
        <p:spPr>
          <a:xfrm>
            <a:off x="594360" y="3575304"/>
            <a:ext cx="128016" cy="128016"/>
          </a:xfrm>
          <a:prstGeom prst="ellipse">
            <a:avLst/>
          </a:prstGeom>
          <a:solidFill>
            <a:srgbClr val="EF4444">
              <a:alpha val="40000"/>
            </a:srgbClr>
          </a:solidFill>
          <a:ln w="6350">
            <a:solidFill>
              <a:srgbClr val="EF4444"/>
            </a:solidFill>
            <a:prstDash val="solid"/>
          </a:ln>
        </p:spPr>
      </p:sp>
      <p:sp>
        <p:nvSpPr>
          <p:cNvPr id="18" name="Text 16"/>
          <p:cNvSpPr/>
          <p:nvPr/>
        </p:nvSpPr>
        <p:spPr>
          <a:xfrm>
            <a:off x="594360" y="3547872"/>
            <a:ext cx="146304" cy="164592"/>
          </a:xfrm>
          <a:prstGeom prst="rect">
            <a:avLst/>
          </a:prstGeom>
          <a:noFill/>
          <a:ln/>
        </p:spPr>
        <p:txBody>
          <a:bodyPr wrap="square" lIns="0" tIns="0" rIns="0" bIns="0" rtlCol="0" anchor="ctr"/>
          <a:lstStyle/>
          <a:p>
            <a:pPr algn="ctr" indent="0" marL="0">
              <a:buNone/>
            </a:pPr>
            <a:r>
              <a:rPr lang="en-US" sz="700" b="1" dirty="0">
                <a:solidFill>
                  <a:srgbClr val="EF4444"/>
                </a:solidFill>
                <a:latin typeface="Calibri" pitchFamily="34" charset="0"/>
                <a:ea typeface="Calibri" pitchFamily="34" charset="-122"/>
                <a:cs typeface="Calibri" pitchFamily="34" charset="-120"/>
              </a:rPr>
              <a:t>✕</a:t>
            </a:r>
            <a:endParaRPr lang="en-US" sz="700" dirty="0"/>
          </a:p>
        </p:txBody>
      </p:sp>
      <p:sp>
        <p:nvSpPr>
          <p:cNvPr id="19" name="Text 17"/>
          <p:cNvSpPr/>
          <p:nvPr/>
        </p:nvSpPr>
        <p:spPr>
          <a:xfrm>
            <a:off x="795528" y="3547872"/>
            <a:ext cx="4754880" cy="237744"/>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No visibility on who received what</a:t>
            </a:r>
            <a:endParaRPr lang="en-US" sz="1050" dirty="0"/>
          </a:p>
        </p:txBody>
      </p:sp>
      <p:sp>
        <p:nvSpPr>
          <p:cNvPr id="20" name="Shape 18"/>
          <p:cNvSpPr/>
          <p:nvPr/>
        </p:nvSpPr>
        <p:spPr>
          <a:xfrm>
            <a:off x="594360" y="4050792"/>
            <a:ext cx="128016" cy="128016"/>
          </a:xfrm>
          <a:prstGeom prst="ellipse">
            <a:avLst/>
          </a:prstGeom>
          <a:solidFill>
            <a:srgbClr val="EF4444">
              <a:alpha val="40000"/>
            </a:srgbClr>
          </a:solidFill>
          <a:ln w="6350">
            <a:solidFill>
              <a:srgbClr val="EF4444"/>
            </a:solidFill>
            <a:prstDash val="solid"/>
          </a:ln>
        </p:spPr>
      </p:sp>
      <p:sp>
        <p:nvSpPr>
          <p:cNvPr id="21" name="Text 19"/>
          <p:cNvSpPr/>
          <p:nvPr/>
        </p:nvSpPr>
        <p:spPr>
          <a:xfrm>
            <a:off x="594360" y="4023360"/>
            <a:ext cx="146304" cy="164592"/>
          </a:xfrm>
          <a:prstGeom prst="rect">
            <a:avLst/>
          </a:prstGeom>
          <a:noFill/>
          <a:ln/>
        </p:spPr>
        <p:txBody>
          <a:bodyPr wrap="square" lIns="0" tIns="0" rIns="0" bIns="0" rtlCol="0" anchor="ctr"/>
          <a:lstStyle/>
          <a:p>
            <a:pPr algn="ctr" indent="0" marL="0">
              <a:buNone/>
            </a:pPr>
            <a:r>
              <a:rPr lang="en-US" sz="700" b="1" dirty="0">
                <a:solidFill>
                  <a:srgbClr val="EF4444"/>
                </a:solidFill>
                <a:latin typeface="Calibri" pitchFamily="34" charset="0"/>
                <a:ea typeface="Calibri" pitchFamily="34" charset="-122"/>
                <a:cs typeface="Calibri" pitchFamily="34" charset="-120"/>
              </a:rPr>
              <a:t>✕</a:t>
            </a:r>
            <a:endParaRPr lang="en-US" sz="700" dirty="0"/>
          </a:p>
        </p:txBody>
      </p:sp>
      <p:sp>
        <p:nvSpPr>
          <p:cNvPr id="22" name="Text 20"/>
          <p:cNvSpPr/>
          <p:nvPr/>
        </p:nvSpPr>
        <p:spPr>
          <a:xfrm>
            <a:off x="795528" y="4023360"/>
            <a:ext cx="4754880" cy="237744"/>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Off-shift supervisors receive calls at home</a:t>
            </a:r>
            <a:endParaRPr lang="en-US" sz="1050" dirty="0"/>
          </a:p>
        </p:txBody>
      </p:sp>
      <p:sp>
        <p:nvSpPr>
          <p:cNvPr id="23" name="Shape 21"/>
          <p:cNvSpPr/>
          <p:nvPr/>
        </p:nvSpPr>
        <p:spPr>
          <a:xfrm>
            <a:off x="594360" y="4526280"/>
            <a:ext cx="128016" cy="128016"/>
          </a:xfrm>
          <a:prstGeom prst="ellipse">
            <a:avLst/>
          </a:prstGeom>
          <a:solidFill>
            <a:srgbClr val="EF4444">
              <a:alpha val="40000"/>
            </a:srgbClr>
          </a:solidFill>
          <a:ln w="6350">
            <a:solidFill>
              <a:srgbClr val="EF4444"/>
            </a:solidFill>
            <a:prstDash val="solid"/>
          </a:ln>
        </p:spPr>
      </p:sp>
      <p:sp>
        <p:nvSpPr>
          <p:cNvPr id="24" name="Text 22"/>
          <p:cNvSpPr/>
          <p:nvPr/>
        </p:nvSpPr>
        <p:spPr>
          <a:xfrm>
            <a:off x="594360" y="4498848"/>
            <a:ext cx="146304" cy="164592"/>
          </a:xfrm>
          <a:prstGeom prst="rect">
            <a:avLst/>
          </a:prstGeom>
          <a:noFill/>
          <a:ln/>
        </p:spPr>
        <p:txBody>
          <a:bodyPr wrap="square" lIns="0" tIns="0" rIns="0" bIns="0" rtlCol="0" anchor="ctr"/>
          <a:lstStyle/>
          <a:p>
            <a:pPr algn="ctr" indent="0" marL="0">
              <a:buNone/>
            </a:pPr>
            <a:r>
              <a:rPr lang="en-US" sz="700" b="1" dirty="0">
                <a:solidFill>
                  <a:srgbClr val="EF4444"/>
                </a:solidFill>
                <a:latin typeface="Calibri" pitchFamily="34" charset="0"/>
                <a:ea typeface="Calibri" pitchFamily="34" charset="-122"/>
                <a:cs typeface="Calibri" pitchFamily="34" charset="-120"/>
              </a:rPr>
              <a:t>✕</a:t>
            </a:r>
            <a:endParaRPr lang="en-US" sz="700" dirty="0"/>
          </a:p>
        </p:txBody>
      </p:sp>
      <p:sp>
        <p:nvSpPr>
          <p:cNvPr id="25" name="Text 23"/>
          <p:cNvSpPr/>
          <p:nvPr/>
        </p:nvSpPr>
        <p:spPr>
          <a:xfrm>
            <a:off x="795528" y="4498848"/>
            <a:ext cx="4754880" cy="237744"/>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No audit trail for disputes or incidents</a:t>
            </a:r>
            <a:endParaRPr lang="en-US" sz="1050" dirty="0"/>
          </a:p>
        </p:txBody>
      </p:sp>
      <p:sp>
        <p:nvSpPr>
          <p:cNvPr id="26" name="Shape 24"/>
          <p:cNvSpPr/>
          <p:nvPr/>
        </p:nvSpPr>
        <p:spPr>
          <a:xfrm>
            <a:off x="594360" y="5001768"/>
            <a:ext cx="128016" cy="128016"/>
          </a:xfrm>
          <a:prstGeom prst="ellipse">
            <a:avLst/>
          </a:prstGeom>
          <a:solidFill>
            <a:srgbClr val="EF4444">
              <a:alpha val="40000"/>
            </a:srgbClr>
          </a:solidFill>
          <a:ln w="6350">
            <a:solidFill>
              <a:srgbClr val="EF4444"/>
            </a:solidFill>
            <a:prstDash val="solid"/>
          </a:ln>
        </p:spPr>
      </p:sp>
      <p:sp>
        <p:nvSpPr>
          <p:cNvPr id="27" name="Text 25"/>
          <p:cNvSpPr/>
          <p:nvPr/>
        </p:nvSpPr>
        <p:spPr>
          <a:xfrm>
            <a:off x="594360" y="4974336"/>
            <a:ext cx="146304" cy="164592"/>
          </a:xfrm>
          <a:prstGeom prst="rect">
            <a:avLst/>
          </a:prstGeom>
          <a:noFill/>
          <a:ln/>
        </p:spPr>
        <p:txBody>
          <a:bodyPr wrap="square" lIns="0" tIns="0" rIns="0" bIns="0" rtlCol="0" anchor="ctr"/>
          <a:lstStyle/>
          <a:p>
            <a:pPr algn="ctr" indent="0" marL="0">
              <a:buNone/>
            </a:pPr>
            <a:r>
              <a:rPr lang="en-US" sz="700" b="1" dirty="0">
                <a:solidFill>
                  <a:srgbClr val="EF4444"/>
                </a:solidFill>
                <a:latin typeface="Calibri" pitchFamily="34" charset="0"/>
                <a:ea typeface="Calibri" pitchFamily="34" charset="-122"/>
                <a:cs typeface="Calibri" pitchFamily="34" charset="-120"/>
              </a:rPr>
              <a:t>✕</a:t>
            </a:r>
            <a:endParaRPr lang="en-US" sz="700" dirty="0"/>
          </a:p>
        </p:txBody>
      </p:sp>
      <p:sp>
        <p:nvSpPr>
          <p:cNvPr id="28" name="Text 26"/>
          <p:cNvSpPr/>
          <p:nvPr/>
        </p:nvSpPr>
        <p:spPr>
          <a:xfrm>
            <a:off x="795528" y="4974336"/>
            <a:ext cx="4754880" cy="237744"/>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Response time depends on whoever picks up</a:t>
            </a:r>
            <a:endParaRPr lang="en-US" sz="1050" dirty="0"/>
          </a:p>
        </p:txBody>
      </p:sp>
      <p:sp>
        <p:nvSpPr>
          <p:cNvPr id="29" name="Shape 27"/>
          <p:cNvSpPr/>
          <p:nvPr/>
        </p:nvSpPr>
        <p:spPr>
          <a:xfrm>
            <a:off x="594360" y="5477256"/>
            <a:ext cx="128016" cy="128016"/>
          </a:xfrm>
          <a:prstGeom prst="ellipse">
            <a:avLst/>
          </a:prstGeom>
          <a:solidFill>
            <a:srgbClr val="EF4444">
              <a:alpha val="40000"/>
            </a:srgbClr>
          </a:solidFill>
          <a:ln w="6350">
            <a:solidFill>
              <a:srgbClr val="EF4444"/>
            </a:solidFill>
            <a:prstDash val="solid"/>
          </a:ln>
        </p:spPr>
      </p:sp>
      <p:sp>
        <p:nvSpPr>
          <p:cNvPr id="30" name="Text 28"/>
          <p:cNvSpPr/>
          <p:nvPr/>
        </p:nvSpPr>
        <p:spPr>
          <a:xfrm>
            <a:off x="594360" y="5449824"/>
            <a:ext cx="146304" cy="164592"/>
          </a:xfrm>
          <a:prstGeom prst="rect">
            <a:avLst/>
          </a:prstGeom>
          <a:noFill/>
          <a:ln/>
        </p:spPr>
        <p:txBody>
          <a:bodyPr wrap="square" lIns="0" tIns="0" rIns="0" bIns="0" rtlCol="0" anchor="ctr"/>
          <a:lstStyle/>
          <a:p>
            <a:pPr algn="ctr" indent="0" marL="0">
              <a:buNone/>
            </a:pPr>
            <a:r>
              <a:rPr lang="en-US" sz="700" b="1" dirty="0">
                <a:solidFill>
                  <a:srgbClr val="EF4444"/>
                </a:solidFill>
                <a:latin typeface="Calibri" pitchFamily="34" charset="0"/>
                <a:ea typeface="Calibri" pitchFamily="34" charset="-122"/>
                <a:cs typeface="Calibri" pitchFamily="34" charset="-120"/>
              </a:rPr>
              <a:t>✕</a:t>
            </a:r>
            <a:endParaRPr lang="en-US" sz="700" dirty="0"/>
          </a:p>
        </p:txBody>
      </p:sp>
      <p:sp>
        <p:nvSpPr>
          <p:cNvPr id="31" name="Text 29"/>
          <p:cNvSpPr/>
          <p:nvPr/>
        </p:nvSpPr>
        <p:spPr>
          <a:xfrm>
            <a:off x="795528" y="5449824"/>
            <a:ext cx="4754880" cy="237744"/>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Every shift change is a communication risk</a:t>
            </a:r>
            <a:endParaRPr lang="en-US" sz="1050" dirty="0"/>
          </a:p>
        </p:txBody>
      </p:sp>
      <p:sp>
        <p:nvSpPr>
          <p:cNvPr id="32" name="Shape 30"/>
          <p:cNvSpPr/>
          <p:nvPr/>
        </p:nvSpPr>
        <p:spPr>
          <a:xfrm>
            <a:off x="6355080" y="1600200"/>
            <a:ext cx="5394960" cy="4754880"/>
          </a:xfrm>
          <a:prstGeom prst="roundRect">
            <a:avLst>
              <a:gd name="adj" fmla="val 1923"/>
            </a:avLst>
          </a:prstGeom>
          <a:solidFill>
            <a:srgbClr val="13131F"/>
          </a:solidFill>
          <a:ln w="12700">
            <a:solidFill>
              <a:srgbClr val="06B6D4">
                <a:alpha val="60000"/>
              </a:srgbClr>
            </a:solidFill>
            <a:prstDash val="solid"/>
          </a:ln>
        </p:spPr>
      </p:sp>
      <p:sp>
        <p:nvSpPr>
          <p:cNvPr id="33" name="Text 31"/>
          <p:cNvSpPr/>
          <p:nvPr/>
        </p:nvSpPr>
        <p:spPr>
          <a:xfrm>
            <a:off x="6537960" y="1737360"/>
            <a:ext cx="5029200" cy="274320"/>
          </a:xfrm>
          <a:prstGeom prst="rect">
            <a:avLst/>
          </a:prstGeom>
          <a:noFill/>
          <a:ln/>
        </p:spPr>
        <p:txBody>
          <a:bodyPr wrap="square" lIns="0" tIns="0" rIns="0" bIns="0" rtlCol="0" anchor="ctr"/>
          <a:lstStyle/>
          <a:p>
            <a:pPr indent="0" marL="0">
              <a:buNone/>
            </a:pPr>
            <a:r>
              <a:rPr lang="en-US" sz="1000" b="1" spc="200" kern="0" dirty="0">
                <a:solidFill>
                  <a:srgbClr val="06B6D4"/>
                </a:solidFill>
                <a:latin typeface="Calibri" pitchFamily="34" charset="0"/>
                <a:ea typeface="Calibri" pitchFamily="34" charset="-122"/>
                <a:cs typeface="Calibri" pitchFamily="34" charset="-120"/>
              </a:rPr>
              <a:t>WITH XIARO</a:t>
            </a:r>
            <a:endParaRPr lang="en-US" sz="1000" dirty="0"/>
          </a:p>
        </p:txBody>
      </p:sp>
      <p:sp>
        <p:nvSpPr>
          <p:cNvPr id="34" name="Shape 32"/>
          <p:cNvSpPr/>
          <p:nvPr/>
        </p:nvSpPr>
        <p:spPr>
          <a:xfrm>
            <a:off x="6537960" y="2157984"/>
            <a:ext cx="146304" cy="146304"/>
          </a:xfrm>
          <a:prstGeom prst="ellipse">
            <a:avLst/>
          </a:prstGeom>
          <a:solidFill>
            <a:srgbClr val="06B6D4">
              <a:alpha val="25000"/>
            </a:srgbClr>
          </a:solidFill>
          <a:ln w="6350">
            <a:solidFill>
              <a:srgbClr val="06B6D4"/>
            </a:solidFill>
            <a:prstDash val="solid"/>
          </a:ln>
        </p:spPr>
      </p:sp>
      <p:sp>
        <p:nvSpPr>
          <p:cNvPr id="35" name="Text 33"/>
          <p:cNvSpPr/>
          <p:nvPr/>
        </p:nvSpPr>
        <p:spPr>
          <a:xfrm>
            <a:off x="6537960" y="2144268"/>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36" name="Text 34"/>
          <p:cNvSpPr/>
          <p:nvPr/>
        </p:nvSpPr>
        <p:spPr>
          <a:xfrm>
            <a:off x="6739128" y="2121408"/>
            <a:ext cx="475488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One number for every driver, every channel</a:t>
            </a:r>
            <a:endParaRPr lang="en-US" sz="1000" dirty="0"/>
          </a:p>
        </p:txBody>
      </p:sp>
      <p:sp>
        <p:nvSpPr>
          <p:cNvPr id="37" name="Shape 35"/>
          <p:cNvSpPr/>
          <p:nvPr/>
        </p:nvSpPr>
        <p:spPr>
          <a:xfrm>
            <a:off x="6537960" y="2633472"/>
            <a:ext cx="146304" cy="146304"/>
          </a:xfrm>
          <a:prstGeom prst="ellipse">
            <a:avLst/>
          </a:prstGeom>
          <a:solidFill>
            <a:srgbClr val="06B6D4">
              <a:alpha val="25000"/>
            </a:srgbClr>
          </a:solidFill>
          <a:ln w="6350">
            <a:solidFill>
              <a:srgbClr val="06B6D4"/>
            </a:solidFill>
            <a:prstDash val="solid"/>
          </a:ln>
        </p:spPr>
      </p:sp>
      <p:sp>
        <p:nvSpPr>
          <p:cNvPr id="38" name="Text 36"/>
          <p:cNvSpPr/>
          <p:nvPr/>
        </p:nvSpPr>
        <p:spPr>
          <a:xfrm>
            <a:off x="6537960" y="2619756"/>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39" name="Text 37"/>
          <p:cNvSpPr/>
          <p:nvPr/>
        </p:nvSpPr>
        <p:spPr>
          <a:xfrm>
            <a:off x="6739128" y="2596896"/>
            <a:ext cx="475488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Roster changes automatically update routing</a:t>
            </a:r>
            <a:endParaRPr lang="en-US" sz="1000" dirty="0"/>
          </a:p>
        </p:txBody>
      </p:sp>
      <p:sp>
        <p:nvSpPr>
          <p:cNvPr id="40" name="Shape 38"/>
          <p:cNvSpPr/>
          <p:nvPr/>
        </p:nvSpPr>
        <p:spPr>
          <a:xfrm>
            <a:off x="6537960" y="3108960"/>
            <a:ext cx="146304" cy="146304"/>
          </a:xfrm>
          <a:prstGeom prst="ellipse">
            <a:avLst/>
          </a:prstGeom>
          <a:solidFill>
            <a:srgbClr val="06B6D4">
              <a:alpha val="25000"/>
            </a:srgbClr>
          </a:solidFill>
          <a:ln w="6350">
            <a:solidFill>
              <a:srgbClr val="06B6D4"/>
            </a:solidFill>
            <a:prstDash val="solid"/>
          </a:ln>
        </p:spPr>
      </p:sp>
      <p:sp>
        <p:nvSpPr>
          <p:cNvPr id="41" name="Text 39"/>
          <p:cNvSpPr/>
          <p:nvPr/>
        </p:nvSpPr>
        <p:spPr>
          <a:xfrm>
            <a:off x="6537960" y="3095244"/>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42" name="Text 40"/>
          <p:cNvSpPr/>
          <p:nvPr/>
        </p:nvSpPr>
        <p:spPr>
          <a:xfrm>
            <a:off x="6739128" y="3072384"/>
            <a:ext cx="475488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Every message routed to the on-shift supervisor</a:t>
            </a:r>
            <a:endParaRPr lang="en-US" sz="1000" dirty="0"/>
          </a:p>
        </p:txBody>
      </p:sp>
      <p:sp>
        <p:nvSpPr>
          <p:cNvPr id="43" name="Shape 41"/>
          <p:cNvSpPr/>
          <p:nvPr/>
        </p:nvSpPr>
        <p:spPr>
          <a:xfrm>
            <a:off x="6537960" y="3584448"/>
            <a:ext cx="146304" cy="146304"/>
          </a:xfrm>
          <a:prstGeom prst="ellipse">
            <a:avLst/>
          </a:prstGeom>
          <a:solidFill>
            <a:srgbClr val="06B6D4">
              <a:alpha val="25000"/>
            </a:srgbClr>
          </a:solidFill>
          <a:ln w="6350">
            <a:solidFill>
              <a:srgbClr val="06B6D4"/>
            </a:solidFill>
            <a:prstDash val="solid"/>
          </a:ln>
        </p:spPr>
      </p:sp>
      <p:sp>
        <p:nvSpPr>
          <p:cNvPr id="44" name="Text 42"/>
          <p:cNvSpPr/>
          <p:nvPr/>
        </p:nvSpPr>
        <p:spPr>
          <a:xfrm>
            <a:off x="6537960" y="3570732"/>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45" name="Text 43"/>
          <p:cNvSpPr/>
          <p:nvPr/>
        </p:nvSpPr>
        <p:spPr>
          <a:xfrm>
            <a:off x="6739128" y="3547872"/>
            <a:ext cx="475488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Full delivery confirmation and read receipts</a:t>
            </a:r>
            <a:endParaRPr lang="en-US" sz="1000" dirty="0"/>
          </a:p>
        </p:txBody>
      </p:sp>
      <p:sp>
        <p:nvSpPr>
          <p:cNvPr id="46" name="Shape 44"/>
          <p:cNvSpPr/>
          <p:nvPr/>
        </p:nvSpPr>
        <p:spPr>
          <a:xfrm>
            <a:off x="6537960" y="4059936"/>
            <a:ext cx="146304" cy="146304"/>
          </a:xfrm>
          <a:prstGeom prst="ellipse">
            <a:avLst/>
          </a:prstGeom>
          <a:solidFill>
            <a:srgbClr val="06B6D4">
              <a:alpha val="25000"/>
            </a:srgbClr>
          </a:solidFill>
          <a:ln w="6350">
            <a:solidFill>
              <a:srgbClr val="06B6D4"/>
            </a:solidFill>
            <a:prstDash val="solid"/>
          </a:ln>
        </p:spPr>
      </p:sp>
      <p:sp>
        <p:nvSpPr>
          <p:cNvPr id="47" name="Text 45"/>
          <p:cNvSpPr/>
          <p:nvPr/>
        </p:nvSpPr>
        <p:spPr>
          <a:xfrm>
            <a:off x="6537960" y="4046220"/>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48" name="Text 46"/>
          <p:cNvSpPr/>
          <p:nvPr/>
        </p:nvSpPr>
        <p:spPr>
          <a:xfrm>
            <a:off x="6739128" y="4023360"/>
            <a:ext cx="475488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Supervisors only receive calls during their shift</a:t>
            </a:r>
            <a:endParaRPr lang="en-US" sz="1000" dirty="0"/>
          </a:p>
        </p:txBody>
      </p:sp>
      <p:sp>
        <p:nvSpPr>
          <p:cNvPr id="49" name="Shape 47"/>
          <p:cNvSpPr/>
          <p:nvPr/>
        </p:nvSpPr>
        <p:spPr>
          <a:xfrm>
            <a:off x="6537960" y="4535424"/>
            <a:ext cx="146304" cy="146304"/>
          </a:xfrm>
          <a:prstGeom prst="ellipse">
            <a:avLst/>
          </a:prstGeom>
          <a:solidFill>
            <a:srgbClr val="06B6D4">
              <a:alpha val="25000"/>
            </a:srgbClr>
          </a:solidFill>
          <a:ln w="6350">
            <a:solidFill>
              <a:srgbClr val="06B6D4"/>
            </a:solidFill>
            <a:prstDash val="solid"/>
          </a:ln>
        </p:spPr>
      </p:sp>
      <p:sp>
        <p:nvSpPr>
          <p:cNvPr id="50" name="Text 48"/>
          <p:cNvSpPr/>
          <p:nvPr/>
        </p:nvSpPr>
        <p:spPr>
          <a:xfrm>
            <a:off x="6537960" y="4521708"/>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51" name="Text 49"/>
          <p:cNvSpPr/>
          <p:nvPr/>
        </p:nvSpPr>
        <p:spPr>
          <a:xfrm>
            <a:off x="6739128" y="4498848"/>
            <a:ext cx="475488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Complete audit trail, timestamped, searchable</a:t>
            </a:r>
            <a:endParaRPr lang="en-US" sz="1000" dirty="0"/>
          </a:p>
        </p:txBody>
      </p:sp>
      <p:sp>
        <p:nvSpPr>
          <p:cNvPr id="52" name="Shape 50"/>
          <p:cNvSpPr/>
          <p:nvPr/>
        </p:nvSpPr>
        <p:spPr>
          <a:xfrm>
            <a:off x="6537960" y="5010912"/>
            <a:ext cx="146304" cy="146304"/>
          </a:xfrm>
          <a:prstGeom prst="ellipse">
            <a:avLst/>
          </a:prstGeom>
          <a:solidFill>
            <a:srgbClr val="06B6D4">
              <a:alpha val="25000"/>
            </a:srgbClr>
          </a:solidFill>
          <a:ln w="6350">
            <a:solidFill>
              <a:srgbClr val="06B6D4"/>
            </a:solidFill>
            <a:prstDash val="solid"/>
          </a:ln>
        </p:spPr>
      </p:sp>
      <p:sp>
        <p:nvSpPr>
          <p:cNvPr id="53" name="Text 51"/>
          <p:cNvSpPr/>
          <p:nvPr/>
        </p:nvSpPr>
        <p:spPr>
          <a:xfrm>
            <a:off x="6537960" y="4997196"/>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54" name="Text 52"/>
          <p:cNvSpPr/>
          <p:nvPr/>
        </p:nvSpPr>
        <p:spPr>
          <a:xfrm>
            <a:off x="6739128" y="4974336"/>
            <a:ext cx="475488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Response time defined by shift rules, not luck</a:t>
            </a:r>
            <a:endParaRPr lang="en-US" sz="1000" dirty="0"/>
          </a:p>
        </p:txBody>
      </p:sp>
      <p:sp>
        <p:nvSpPr>
          <p:cNvPr id="55" name="Shape 53"/>
          <p:cNvSpPr/>
          <p:nvPr/>
        </p:nvSpPr>
        <p:spPr>
          <a:xfrm>
            <a:off x="6537960" y="5486400"/>
            <a:ext cx="146304" cy="146304"/>
          </a:xfrm>
          <a:prstGeom prst="ellipse">
            <a:avLst/>
          </a:prstGeom>
          <a:solidFill>
            <a:srgbClr val="06B6D4">
              <a:alpha val="25000"/>
            </a:srgbClr>
          </a:solidFill>
          <a:ln w="6350">
            <a:solidFill>
              <a:srgbClr val="06B6D4"/>
            </a:solidFill>
            <a:prstDash val="solid"/>
          </a:ln>
        </p:spPr>
      </p:sp>
      <p:sp>
        <p:nvSpPr>
          <p:cNvPr id="56" name="Text 54"/>
          <p:cNvSpPr/>
          <p:nvPr/>
        </p:nvSpPr>
        <p:spPr>
          <a:xfrm>
            <a:off x="6537960" y="5472684"/>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57" name="Text 55"/>
          <p:cNvSpPr/>
          <p:nvPr/>
        </p:nvSpPr>
        <p:spPr>
          <a:xfrm>
            <a:off x="6739128" y="5449824"/>
            <a:ext cx="475488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Every shift change is seamless and automatic</a:t>
            </a:r>
            <a:endParaRPr lang="en-US" sz="1000" dirty="0"/>
          </a:p>
        </p:txBody>
      </p:sp>
      <p:sp>
        <p:nvSpPr>
          <p:cNvPr id="58" name="Shape 56"/>
          <p:cNvSpPr/>
          <p:nvPr/>
        </p:nvSpPr>
        <p:spPr>
          <a:xfrm>
            <a:off x="5806440" y="3977640"/>
            <a:ext cx="548640" cy="0"/>
          </a:xfrm>
          <a:prstGeom prst="line">
            <a:avLst/>
          </a:prstGeom>
          <a:noFill/>
          <a:ln w="19050">
            <a:solidFill>
              <a:srgbClr val="06B6D4"/>
            </a:solidFill>
            <a:prstDash val="solid"/>
          </a:ln>
        </p:spPr>
      </p:sp>
      <p:sp>
        <p:nvSpPr>
          <p:cNvPr id="59" name="Text 57"/>
          <p:cNvSpPr/>
          <p:nvPr/>
        </p:nvSpPr>
        <p:spPr>
          <a:xfrm>
            <a:off x="5715000" y="3794760"/>
            <a:ext cx="731520" cy="365760"/>
          </a:xfrm>
          <a:prstGeom prst="rect">
            <a:avLst/>
          </a:prstGeom>
          <a:noFill/>
          <a:ln/>
        </p:spPr>
        <p:txBody>
          <a:bodyPr wrap="square" lIns="0" tIns="0" rIns="0" bIns="0" rtlCol="0" anchor="ctr"/>
          <a:lstStyle/>
          <a:p>
            <a:pPr algn="ctr" indent="0" marL="0">
              <a:buNone/>
            </a:pPr>
            <a:r>
              <a:rPr lang="en-US" sz="2200" dirty="0">
                <a:solidFill>
                  <a:srgbClr val="06B6D4"/>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w="12700">
            <a:solidFill>
              <a:srgbClr val="0A0A0F"/>
            </a:solidFill>
            <a:prstDash val="solid"/>
          </a:ln>
        </p:spPr>
      </p:sp>
      <p:sp>
        <p:nvSpPr>
          <p:cNvPr id="3" name="Text 1"/>
          <p:cNvSpPr/>
          <p:nvPr/>
        </p:nvSpPr>
        <p:spPr>
          <a:xfrm>
            <a:off x="502920" y="320040"/>
            <a:ext cx="6400800" cy="201168"/>
          </a:xfrm>
          <a:prstGeom prst="rect">
            <a:avLst/>
          </a:prstGeom>
          <a:noFill/>
          <a:ln/>
        </p:spPr>
        <p:txBody>
          <a:bodyPr wrap="square" rtlCol="0" anchor="ctr"/>
          <a:lstStyle/>
          <a:p>
            <a:pPr indent="0" marL="0">
              <a:buNone/>
            </a:pPr>
            <a:r>
              <a:rPr lang="en-US" sz="800" b="1" spc="300" kern="0" dirty="0">
                <a:solidFill>
                  <a:srgbClr val="06B6D4"/>
                </a:solidFill>
                <a:latin typeface="Calibri" pitchFamily="34" charset="0"/>
                <a:ea typeface="Calibri" pitchFamily="34" charset="-122"/>
                <a:cs typeface="Calibri" pitchFamily="34" charset="-120"/>
              </a:rPr>
              <a:t>RETURN ON INVESTMENT</a:t>
            </a:r>
            <a:endParaRPr lang="en-US" sz="800" dirty="0"/>
          </a:p>
        </p:txBody>
      </p:sp>
      <p:sp>
        <p:nvSpPr>
          <p:cNvPr id="4" name="Text 2"/>
          <p:cNvSpPr/>
          <p:nvPr/>
        </p:nvSpPr>
        <p:spPr>
          <a:xfrm>
            <a:off x="502920" y="54864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Xiaro pays for itself in the</a:t>
            </a:r>
            <a:endParaRPr lang="en-US" sz="2600" dirty="0"/>
          </a:p>
          <a:p>
            <a:pPr indent="0" marL="0">
              <a:buNone/>
            </a:pPr>
            <a:r>
              <a:rPr lang="en-US" sz="2600" b="1" dirty="0">
                <a:solidFill>
                  <a:srgbClr val="FFFFFF"/>
                </a:solidFill>
                <a:latin typeface="Calibri" pitchFamily="34" charset="0"/>
                <a:ea typeface="Calibri" pitchFamily="34" charset="-122"/>
                <a:cs typeface="Calibri" pitchFamily="34" charset="-120"/>
              </a:rPr>
              <a:t>first week of operation</a:t>
            </a:r>
            <a:endParaRPr lang="en-US" sz="2600" dirty="0"/>
          </a:p>
        </p:txBody>
      </p:sp>
      <p:sp>
        <p:nvSpPr>
          <p:cNvPr id="5" name="Shape 3"/>
          <p:cNvSpPr/>
          <p:nvPr/>
        </p:nvSpPr>
        <p:spPr>
          <a:xfrm>
            <a:off x="502920" y="1417320"/>
            <a:ext cx="11155680" cy="0"/>
          </a:xfrm>
          <a:prstGeom prst="line">
            <a:avLst/>
          </a:prstGeom>
          <a:noFill/>
          <a:ln w="5080">
            <a:solidFill>
              <a:srgbClr val="FFFFFF">
                <a:alpha val="20000"/>
              </a:srgbClr>
            </a:solidFill>
            <a:prstDash val="solid"/>
          </a:ln>
        </p:spPr>
      </p:sp>
      <p:sp>
        <p:nvSpPr>
          <p:cNvPr id="6" name="Shape 4"/>
          <p:cNvSpPr/>
          <p:nvPr/>
        </p:nvSpPr>
        <p:spPr>
          <a:xfrm>
            <a:off x="411480" y="1737360"/>
            <a:ext cx="2743200" cy="1645920"/>
          </a:xfrm>
          <a:prstGeom prst="roundRect">
            <a:avLst>
              <a:gd name="adj" fmla="val 5556"/>
            </a:avLst>
          </a:prstGeom>
          <a:solidFill>
            <a:srgbClr val="13131F"/>
          </a:solidFill>
          <a:ln w="12700">
            <a:solidFill>
              <a:srgbClr val="EF4444">
                <a:alpha val="50000"/>
              </a:srgbClr>
            </a:solidFill>
            <a:prstDash val="solid"/>
          </a:ln>
        </p:spPr>
      </p:sp>
      <p:sp>
        <p:nvSpPr>
          <p:cNvPr id="7" name="Text 5"/>
          <p:cNvSpPr/>
          <p:nvPr/>
        </p:nvSpPr>
        <p:spPr>
          <a:xfrm>
            <a:off x="548640" y="1874520"/>
            <a:ext cx="2468880" cy="640080"/>
          </a:xfrm>
          <a:prstGeom prst="rect">
            <a:avLst/>
          </a:prstGeom>
          <a:noFill/>
          <a:ln/>
        </p:spPr>
        <p:txBody>
          <a:bodyPr wrap="square" lIns="0" tIns="0" rIns="0" bIns="0" rtlCol="0" anchor="ctr"/>
          <a:lstStyle/>
          <a:p>
            <a:pPr algn="ctr" indent="0" marL="0">
              <a:buNone/>
            </a:pPr>
            <a:r>
              <a:rPr lang="en-US" sz="2600" b="1" dirty="0">
                <a:solidFill>
                  <a:srgbClr val="EF4444"/>
                </a:solidFill>
                <a:latin typeface="Calibri" pitchFamily="34" charset="0"/>
                <a:ea typeface="Calibri" pitchFamily="34" charset="-122"/>
                <a:cs typeface="Calibri" pitchFamily="34" charset="-120"/>
              </a:rPr>
              <a:t>$2,503/wk</a:t>
            </a:r>
            <a:endParaRPr lang="en-US" sz="2600" dirty="0"/>
          </a:p>
        </p:txBody>
      </p:sp>
      <p:sp>
        <p:nvSpPr>
          <p:cNvPr id="8" name="Text 6"/>
          <p:cNvSpPr/>
          <p:nvPr/>
        </p:nvSpPr>
        <p:spPr>
          <a:xfrm>
            <a:off x="502920" y="2560320"/>
            <a:ext cx="256032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Current weekly loss</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from communication failure</a:t>
            </a:r>
            <a:endParaRPr lang="en-US" sz="1000" dirty="0"/>
          </a:p>
        </p:txBody>
      </p:sp>
      <p:sp>
        <p:nvSpPr>
          <p:cNvPr id="9" name="Text 7"/>
          <p:cNvSpPr/>
          <p:nvPr/>
        </p:nvSpPr>
        <p:spPr>
          <a:xfrm>
            <a:off x="3200400" y="2286000"/>
            <a:ext cx="274320" cy="365760"/>
          </a:xfrm>
          <a:prstGeom prst="rect">
            <a:avLst/>
          </a:prstGeom>
          <a:noFill/>
          <a:ln/>
        </p:spPr>
        <p:txBody>
          <a:bodyPr wrap="square" lIns="0" tIns="0" rIns="0" bIns="0" rtlCol="0" anchor="ctr"/>
          <a:lstStyle/>
          <a:p>
            <a:pPr algn="ctr" indent="0" marL="0">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3337560" y="1737360"/>
            <a:ext cx="2743200" cy="1645920"/>
          </a:xfrm>
          <a:prstGeom prst="roundRect">
            <a:avLst>
              <a:gd name="adj" fmla="val 5556"/>
            </a:avLst>
          </a:prstGeom>
          <a:solidFill>
            <a:srgbClr val="13131F"/>
          </a:solidFill>
          <a:ln w="12700">
            <a:solidFill>
              <a:srgbClr val="94A3B8">
                <a:alpha val="50000"/>
              </a:srgbClr>
            </a:solidFill>
            <a:prstDash val="solid"/>
          </a:ln>
        </p:spPr>
      </p:sp>
      <p:sp>
        <p:nvSpPr>
          <p:cNvPr id="11" name="Text 9"/>
          <p:cNvSpPr/>
          <p:nvPr/>
        </p:nvSpPr>
        <p:spPr>
          <a:xfrm>
            <a:off x="3474720" y="1874520"/>
            <a:ext cx="2468880" cy="640080"/>
          </a:xfrm>
          <a:prstGeom prst="rect">
            <a:avLst/>
          </a:prstGeom>
          <a:noFill/>
          <a:ln/>
        </p:spPr>
        <p:txBody>
          <a:bodyPr wrap="square" lIns="0" tIns="0" rIns="0" bIns="0" rtlCol="0" anchor="ctr"/>
          <a:lstStyle/>
          <a:p>
            <a:pPr algn="ctr" indent="0" marL="0">
              <a:buNone/>
            </a:pPr>
            <a:r>
              <a:rPr lang="en-US" sz="2600" b="1" dirty="0">
                <a:solidFill>
                  <a:srgbClr val="94A3B8"/>
                </a:solidFill>
                <a:latin typeface="Calibri" pitchFamily="34" charset="0"/>
                <a:ea typeface="Calibri" pitchFamily="34" charset="-122"/>
                <a:cs typeface="Calibri" pitchFamily="34" charset="-120"/>
              </a:rPr>
              <a:t>$349/mo</a:t>
            </a:r>
            <a:endParaRPr lang="en-US" sz="2600" dirty="0"/>
          </a:p>
        </p:txBody>
      </p:sp>
      <p:sp>
        <p:nvSpPr>
          <p:cNvPr id="12" name="Text 10"/>
          <p:cNvSpPr/>
          <p:nvPr/>
        </p:nvSpPr>
        <p:spPr>
          <a:xfrm>
            <a:off x="3429000" y="2560320"/>
            <a:ext cx="256032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Xiaro Operations plan</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(your investment)</a:t>
            </a:r>
            <a:endParaRPr lang="en-US" sz="1000" dirty="0"/>
          </a:p>
        </p:txBody>
      </p:sp>
      <p:sp>
        <p:nvSpPr>
          <p:cNvPr id="13" name="Text 11"/>
          <p:cNvSpPr/>
          <p:nvPr/>
        </p:nvSpPr>
        <p:spPr>
          <a:xfrm>
            <a:off x="6126480" y="2286000"/>
            <a:ext cx="274320" cy="365760"/>
          </a:xfrm>
          <a:prstGeom prst="rect">
            <a:avLst/>
          </a:prstGeom>
          <a:noFill/>
          <a:ln/>
        </p:spPr>
        <p:txBody>
          <a:bodyPr wrap="square" lIns="0" tIns="0" rIns="0" bIns="0" rtlCol="0" anchor="ctr"/>
          <a:lstStyle/>
          <a:p>
            <a:pPr algn="ctr" indent="0" marL="0">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6263640" y="1737360"/>
            <a:ext cx="2743200" cy="1645920"/>
          </a:xfrm>
          <a:prstGeom prst="roundRect">
            <a:avLst>
              <a:gd name="adj" fmla="val 5556"/>
            </a:avLst>
          </a:prstGeom>
          <a:solidFill>
            <a:srgbClr val="13131F"/>
          </a:solidFill>
          <a:ln w="12700">
            <a:solidFill>
              <a:srgbClr val="06B6D4">
                <a:alpha val="50000"/>
              </a:srgbClr>
            </a:solidFill>
            <a:prstDash val="solid"/>
          </a:ln>
        </p:spPr>
      </p:sp>
      <p:sp>
        <p:nvSpPr>
          <p:cNvPr id="15" name="Text 13"/>
          <p:cNvSpPr/>
          <p:nvPr/>
        </p:nvSpPr>
        <p:spPr>
          <a:xfrm>
            <a:off x="6400800" y="1874520"/>
            <a:ext cx="2468880" cy="640080"/>
          </a:xfrm>
          <a:prstGeom prst="rect">
            <a:avLst/>
          </a:prstGeom>
          <a:noFill/>
          <a:ln/>
        </p:spPr>
        <p:txBody>
          <a:bodyPr wrap="square" lIns="0" tIns="0" rIns="0" bIns="0" rtlCol="0" anchor="ctr"/>
          <a:lstStyle/>
          <a:p>
            <a:pPr algn="ctr" indent="0" marL="0">
              <a:buNone/>
            </a:pPr>
            <a:r>
              <a:rPr lang="en-US" sz="2600" b="1" dirty="0">
                <a:solidFill>
                  <a:srgbClr val="06B6D4"/>
                </a:solidFill>
                <a:latin typeface="Calibri" pitchFamily="34" charset="0"/>
                <a:ea typeface="Calibri" pitchFamily="34" charset="-122"/>
                <a:cs typeface="Calibri" pitchFamily="34" charset="-120"/>
              </a:rPr>
              <a:t>$87/wk</a:t>
            </a:r>
            <a:endParaRPr lang="en-US" sz="2600" dirty="0"/>
          </a:p>
        </p:txBody>
      </p:sp>
      <p:sp>
        <p:nvSpPr>
          <p:cNvPr id="16" name="Text 14"/>
          <p:cNvSpPr/>
          <p:nvPr/>
        </p:nvSpPr>
        <p:spPr>
          <a:xfrm>
            <a:off x="6355080" y="2560320"/>
            <a:ext cx="256032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Xiaro weekly cost</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 by 4 weeks)</a:t>
            </a:r>
            <a:endParaRPr lang="en-US" sz="1000" dirty="0"/>
          </a:p>
        </p:txBody>
      </p:sp>
      <p:sp>
        <p:nvSpPr>
          <p:cNvPr id="17" name="Text 15"/>
          <p:cNvSpPr/>
          <p:nvPr/>
        </p:nvSpPr>
        <p:spPr>
          <a:xfrm>
            <a:off x="9052560" y="2286000"/>
            <a:ext cx="274320" cy="365760"/>
          </a:xfrm>
          <a:prstGeom prst="rect">
            <a:avLst/>
          </a:prstGeom>
          <a:noFill/>
          <a:ln/>
        </p:spPr>
        <p:txBody>
          <a:bodyPr wrap="square" lIns="0" tIns="0" rIns="0" bIns="0" rtlCol="0" anchor="ctr"/>
          <a:lstStyle/>
          <a:p>
            <a:pPr algn="ctr" indent="0" marL="0">
              <a:buNone/>
            </a:pPr>
            <a:r>
              <a:rPr lang="en-US" sz="1800" dirty="0">
                <a:solidFill>
                  <a:srgbClr val="94A3B8"/>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9189720" y="1737360"/>
            <a:ext cx="2743200" cy="1645920"/>
          </a:xfrm>
          <a:prstGeom prst="roundRect">
            <a:avLst>
              <a:gd name="adj" fmla="val 5556"/>
            </a:avLst>
          </a:prstGeom>
          <a:solidFill>
            <a:srgbClr val="13131F"/>
          </a:solidFill>
          <a:ln w="12700">
            <a:solidFill>
              <a:srgbClr val="10B981">
                <a:alpha val="50000"/>
              </a:srgbClr>
            </a:solidFill>
            <a:prstDash val="solid"/>
          </a:ln>
        </p:spPr>
      </p:sp>
      <p:sp>
        <p:nvSpPr>
          <p:cNvPr id="19" name="Text 17"/>
          <p:cNvSpPr/>
          <p:nvPr/>
        </p:nvSpPr>
        <p:spPr>
          <a:xfrm>
            <a:off x="9326880" y="1874520"/>
            <a:ext cx="2468880" cy="640080"/>
          </a:xfrm>
          <a:prstGeom prst="rect">
            <a:avLst/>
          </a:prstGeom>
          <a:noFill/>
          <a:ln/>
        </p:spPr>
        <p:txBody>
          <a:bodyPr wrap="square" lIns="0" tIns="0" rIns="0" bIns="0" rtlCol="0" anchor="ctr"/>
          <a:lstStyle/>
          <a:p>
            <a:pPr algn="ctr" indent="0" marL="0">
              <a:buNone/>
            </a:pPr>
            <a:r>
              <a:rPr lang="en-US" sz="2600" b="1" dirty="0">
                <a:solidFill>
                  <a:srgbClr val="10B981"/>
                </a:solidFill>
                <a:latin typeface="Calibri" pitchFamily="34" charset="0"/>
                <a:ea typeface="Calibri" pitchFamily="34" charset="-122"/>
                <a:cs typeface="Calibri" pitchFamily="34" charset="-120"/>
              </a:rPr>
              <a:t>29×</a:t>
            </a:r>
            <a:endParaRPr lang="en-US" sz="2600" dirty="0"/>
          </a:p>
        </p:txBody>
      </p:sp>
      <p:sp>
        <p:nvSpPr>
          <p:cNvPr id="20" name="Text 18"/>
          <p:cNvSpPr/>
          <p:nvPr/>
        </p:nvSpPr>
        <p:spPr>
          <a:xfrm>
            <a:off x="9281160" y="2560320"/>
            <a:ext cx="256032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Return on investment</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($2,503 ÷ $87)</a:t>
            </a:r>
            <a:endParaRPr lang="en-US" sz="1000" dirty="0"/>
          </a:p>
        </p:txBody>
      </p:sp>
      <p:sp>
        <p:nvSpPr>
          <p:cNvPr id="21" name="Shape 19"/>
          <p:cNvSpPr/>
          <p:nvPr/>
        </p:nvSpPr>
        <p:spPr>
          <a:xfrm>
            <a:off x="411480" y="3657600"/>
            <a:ext cx="11338560" cy="2606040"/>
          </a:xfrm>
          <a:prstGeom prst="roundRect">
            <a:avLst>
              <a:gd name="adj" fmla="val 3509"/>
            </a:avLst>
          </a:prstGeom>
          <a:solidFill>
            <a:srgbClr val="13131F"/>
          </a:solidFill>
          <a:ln w="6350">
            <a:solidFill>
              <a:srgbClr val="FFFFFF">
                <a:alpha val="12000"/>
              </a:srgbClr>
            </a:solidFill>
            <a:prstDash val="solid"/>
          </a:ln>
        </p:spPr>
      </p:sp>
      <p:sp>
        <p:nvSpPr>
          <p:cNvPr id="22" name="Text 20"/>
          <p:cNvSpPr/>
          <p:nvPr/>
        </p:nvSpPr>
        <p:spPr>
          <a:xfrm>
            <a:off x="640080" y="3794760"/>
            <a:ext cx="100584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Annual comparison — 100 driver fleet</a:t>
            </a:r>
            <a:endParaRPr lang="en-US" sz="1100" dirty="0"/>
          </a:p>
        </p:txBody>
      </p:sp>
      <p:sp>
        <p:nvSpPr>
          <p:cNvPr id="23" name="Shape 21"/>
          <p:cNvSpPr/>
          <p:nvPr/>
        </p:nvSpPr>
        <p:spPr>
          <a:xfrm>
            <a:off x="640080" y="4480560"/>
            <a:ext cx="10881360" cy="0"/>
          </a:xfrm>
          <a:prstGeom prst="line">
            <a:avLst/>
          </a:prstGeom>
          <a:noFill/>
          <a:ln w="3810">
            <a:solidFill>
              <a:srgbClr val="FFFFFF">
                <a:alpha val="10000"/>
              </a:srgbClr>
            </a:solidFill>
            <a:prstDash val="solid"/>
          </a:ln>
        </p:spPr>
      </p:sp>
      <p:sp>
        <p:nvSpPr>
          <p:cNvPr id="24" name="Text 22"/>
          <p:cNvSpPr/>
          <p:nvPr/>
        </p:nvSpPr>
        <p:spPr>
          <a:xfrm>
            <a:off x="685800" y="4160520"/>
            <a:ext cx="7772400" cy="29260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Cost of communication failure (current)</a:t>
            </a:r>
            <a:endParaRPr lang="en-US" sz="1100" dirty="0"/>
          </a:p>
        </p:txBody>
      </p:sp>
      <p:sp>
        <p:nvSpPr>
          <p:cNvPr id="25" name="Text 23"/>
          <p:cNvSpPr/>
          <p:nvPr/>
        </p:nvSpPr>
        <p:spPr>
          <a:xfrm>
            <a:off x="8503920" y="4160520"/>
            <a:ext cx="2743200" cy="292608"/>
          </a:xfrm>
          <a:prstGeom prst="rect">
            <a:avLst/>
          </a:prstGeom>
          <a:noFill/>
          <a:ln/>
        </p:spPr>
        <p:txBody>
          <a:bodyPr wrap="square" lIns="0" tIns="0" rIns="0" bIns="0" rtlCol="0" anchor="ctr"/>
          <a:lstStyle/>
          <a:p>
            <a:pPr algn="r" indent="0" marL="0">
              <a:buNone/>
            </a:pPr>
            <a:r>
              <a:rPr lang="en-US" sz="1100" b="1" dirty="0">
                <a:solidFill>
                  <a:srgbClr val="EF4444"/>
                </a:solidFill>
                <a:latin typeface="Calibri" pitchFamily="34" charset="0"/>
                <a:ea typeface="Calibri" pitchFamily="34" charset="-122"/>
                <a:cs typeface="Calibri" pitchFamily="34" charset="-120"/>
              </a:rPr>
              <a:t>$130,156/yr</a:t>
            </a:r>
            <a:endParaRPr lang="en-US" sz="1100" dirty="0"/>
          </a:p>
        </p:txBody>
      </p:sp>
      <p:sp>
        <p:nvSpPr>
          <p:cNvPr id="26" name="Shape 24"/>
          <p:cNvSpPr/>
          <p:nvPr/>
        </p:nvSpPr>
        <p:spPr>
          <a:xfrm>
            <a:off x="640080" y="4818888"/>
            <a:ext cx="10881360" cy="0"/>
          </a:xfrm>
          <a:prstGeom prst="line">
            <a:avLst/>
          </a:prstGeom>
          <a:noFill/>
          <a:ln w="3810">
            <a:solidFill>
              <a:srgbClr val="FFFFFF">
                <a:alpha val="10000"/>
              </a:srgbClr>
            </a:solidFill>
            <a:prstDash val="solid"/>
          </a:ln>
        </p:spPr>
      </p:sp>
      <p:sp>
        <p:nvSpPr>
          <p:cNvPr id="27" name="Text 25"/>
          <p:cNvSpPr/>
          <p:nvPr/>
        </p:nvSpPr>
        <p:spPr>
          <a:xfrm>
            <a:off x="685800" y="4498848"/>
            <a:ext cx="7772400" cy="29260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Xiaro Operations subscription</a:t>
            </a:r>
            <a:endParaRPr lang="en-US" sz="1100" dirty="0"/>
          </a:p>
        </p:txBody>
      </p:sp>
      <p:sp>
        <p:nvSpPr>
          <p:cNvPr id="28" name="Text 26"/>
          <p:cNvSpPr/>
          <p:nvPr/>
        </p:nvSpPr>
        <p:spPr>
          <a:xfrm>
            <a:off x="8503920" y="4498848"/>
            <a:ext cx="2743200" cy="292608"/>
          </a:xfrm>
          <a:prstGeom prst="rect">
            <a:avLst/>
          </a:prstGeom>
          <a:noFill/>
          <a:ln/>
        </p:spPr>
        <p:txBody>
          <a:bodyPr wrap="square" lIns="0" tIns="0" rIns="0" bIns="0" rtlCol="0" anchor="ctr"/>
          <a:lstStyle/>
          <a:p>
            <a:pPr algn="r" indent="0" marL="0">
              <a:buNone/>
            </a:pPr>
            <a:r>
              <a:rPr lang="en-US" sz="1100" b="1" dirty="0">
                <a:solidFill>
                  <a:srgbClr val="94A3B8"/>
                </a:solidFill>
                <a:latin typeface="Calibri" pitchFamily="34" charset="0"/>
                <a:ea typeface="Calibri" pitchFamily="34" charset="-122"/>
                <a:cs typeface="Calibri" pitchFamily="34" charset="-120"/>
              </a:rPr>
              <a:t>$4,188/yr ($349/mo)</a:t>
            </a:r>
            <a:endParaRPr lang="en-US" sz="1100" dirty="0"/>
          </a:p>
        </p:txBody>
      </p:sp>
      <p:sp>
        <p:nvSpPr>
          <p:cNvPr id="29" name="Shape 27"/>
          <p:cNvSpPr/>
          <p:nvPr/>
        </p:nvSpPr>
        <p:spPr>
          <a:xfrm>
            <a:off x="640080" y="5157216"/>
            <a:ext cx="10881360" cy="0"/>
          </a:xfrm>
          <a:prstGeom prst="line">
            <a:avLst/>
          </a:prstGeom>
          <a:noFill/>
          <a:ln w="3810">
            <a:solidFill>
              <a:srgbClr val="FFFFFF">
                <a:alpha val="10000"/>
              </a:srgbClr>
            </a:solidFill>
            <a:prstDash val="solid"/>
          </a:ln>
        </p:spPr>
      </p:sp>
      <p:sp>
        <p:nvSpPr>
          <p:cNvPr id="30" name="Text 28"/>
          <p:cNvSpPr/>
          <p:nvPr/>
        </p:nvSpPr>
        <p:spPr>
          <a:xfrm>
            <a:off x="685800" y="4837176"/>
            <a:ext cx="7772400" cy="29260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Onboarding package (once-off)</a:t>
            </a:r>
            <a:endParaRPr lang="en-US" sz="1100" dirty="0"/>
          </a:p>
        </p:txBody>
      </p:sp>
      <p:sp>
        <p:nvSpPr>
          <p:cNvPr id="31" name="Text 29"/>
          <p:cNvSpPr/>
          <p:nvPr/>
        </p:nvSpPr>
        <p:spPr>
          <a:xfrm>
            <a:off x="8503920" y="4837176"/>
            <a:ext cx="2743200" cy="292608"/>
          </a:xfrm>
          <a:prstGeom prst="rect">
            <a:avLst/>
          </a:prstGeom>
          <a:noFill/>
          <a:ln/>
        </p:spPr>
        <p:txBody>
          <a:bodyPr wrap="square" lIns="0" tIns="0" rIns="0" bIns="0" rtlCol="0" anchor="ctr"/>
          <a:lstStyle/>
          <a:p>
            <a:pPr algn="r" indent="0" marL="0">
              <a:buNone/>
            </a:pPr>
            <a:r>
              <a:rPr lang="en-US" sz="1100" b="1" dirty="0">
                <a:solidFill>
                  <a:srgbClr val="94A3B8"/>
                </a:solidFill>
                <a:latin typeface="Calibri" pitchFamily="34" charset="0"/>
                <a:ea typeface="Calibri" pitchFamily="34" charset="-122"/>
                <a:cs typeface="Calibri" pitchFamily="34" charset="-120"/>
              </a:rPr>
              <a:t>$399</a:t>
            </a:r>
            <a:endParaRPr lang="en-US" sz="1100" dirty="0"/>
          </a:p>
        </p:txBody>
      </p:sp>
      <p:sp>
        <p:nvSpPr>
          <p:cNvPr id="32" name="Shape 30"/>
          <p:cNvSpPr/>
          <p:nvPr/>
        </p:nvSpPr>
        <p:spPr>
          <a:xfrm>
            <a:off x="640080" y="5495544"/>
            <a:ext cx="10881360" cy="0"/>
          </a:xfrm>
          <a:prstGeom prst="line">
            <a:avLst/>
          </a:prstGeom>
          <a:noFill/>
          <a:ln w="3810">
            <a:solidFill>
              <a:srgbClr val="FFFFFF">
                <a:alpha val="10000"/>
              </a:srgbClr>
            </a:solidFill>
            <a:prstDash val="solid"/>
          </a:ln>
        </p:spPr>
      </p:sp>
      <p:sp>
        <p:nvSpPr>
          <p:cNvPr id="33" name="Text 31"/>
          <p:cNvSpPr/>
          <p:nvPr/>
        </p:nvSpPr>
        <p:spPr>
          <a:xfrm>
            <a:off x="685800" y="5175504"/>
            <a:ext cx="7772400" cy="29260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Third-party services (Alltel, Notifyre, 360dialog)</a:t>
            </a:r>
            <a:endParaRPr lang="en-US" sz="1100" dirty="0"/>
          </a:p>
        </p:txBody>
      </p:sp>
      <p:sp>
        <p:nvSpPr>
          <p:cNvPr id="34" name="Text 32"/>
          <p:cNvSpPr/>
          <p:nvPr/>
        </p:nvSpPr>
        <p:spPr>
          <a:xfrm>
            <a:off x="8503920" y="5175504"/>
            <a:ext cx="2743200" cy="292608"/>
          </a:xfrm>
          <a:prstGeom prst="rect">
            <a:avLst/>
          </a:prstGeom>
          <a:noFill/>
          <a:ln/>
        </p:spPr>
        <p:txBody>
          <a:bodyPr wrap="square" lIns="0" tIns="0" rIns="0" bIns="0" rtlCol="0" anchor="ctr"/>
          <a:lstStyle/>
          <a:p>
            <a:pPr algn="r" indent="0" marL="0">
              <a:buNone/>
            </a:pPr>
            <a:r>
              <a:rPr lang="en-US" sz="1100" b="1" dirty="0">
                <a:solidFill>
                  <a:srgbClr val="94A3B8"/>
                </a:solidFill>
                <a:latin typeface="Calibri" pitchFamily="34" charset="0"/>
                <a:ea typeface="Calibri" pitchFamily="34" charset="-122"/>
                <a:cs typeface="Calibri" pitchFamily="34" charset="-120"/>
              </a:rPr>
              <a:t>~$1,800/yr est.</a:t>
            </a:r>
            <a:endParaRPr lang="en-US" sz="1100" dirty="0"/>
          </a:p>
        </p:txBody>
      </p:sp>
      <p:sp>
        <p:nvSpPr>
          <p:cNvPr id="35" name="Shape 33"/>
          <p:cNvSpPr/>
          <p:nvPr/>
        </p:nvSpPr>
        <p:spPr>
          <a:xfrm>
            <a:off x="640080" y="5833872"/>
            <a:ext cx="10881360" cy="0"/>
          </a:xfrm>
          <a:prstGeom prst="line">
            <a:avLst/>
          </a:prstGeom>
          <a:noFill/>
          <a:ln w="3810">
            <a:solidFill>
              <a:srgbClr val="FFFFFF">
                <a:alpha val="10000"/>
              </a:srgbClr>
            </a:solidFill>
            <a:prstDash val="solid"/>
          </a:ln>
        </p:spPr>
      </p:sp>
      <p:sp>
        <p:nvSpPr>
          <p:cNvPr id="36" name="Text 34"/>
          <p:cNvSpPr/>
          <p:nvPr/>
        </p:nvSpPr>
        <p:spPr>
          <a:xfrm>
            <a:off x="685800" y="5513832"/>
            <a:ext cx="7772400" cy="292608"/>
          </a:xfrm>
          <a:prstGeom prst="rect">
            <a:avLst/>
          </a:prstGeom>
          <a:noFill/>
          <a:ln/>
        </p:spPr>
        <p:txBody>
          <a:bodyPr wrap="square" lIns="0" tIns="0" rIns="0" bIns="0" rtlCol="0" anchor="ctr"/>
          <a:lstStyle/>
          <a:p>
            <a:pPr indent="0" marL="0">
              <a:buNone/>
            </a:pPr>
            <a:r>
              <a:rPr lang="en-US" sz="1100" dirty="0">
                <a:solidFill>
                  <a:srgbClr val="E2E8F0"/>
                </a:solidFill>
                <a:latin typeface="Calibri" pitchFamily="34" charset="0"/>
                <a:ea typeface="Calibri" pitchFamily="34" charset="-122"/>
                <a:cs typeface="Calibri" pitchFamily="34" charset="-120"/>
              </a:rPr>
              <a:t>Total Xiaro investment year 1</a:t>
            </a:r>
            <a:endParaRPr lang="en-US" sz="1100" dirty="0"/>
          </a:p>
        </p:txBody>
      </p:sp>
      <p:sp>
        <p:nvSpPr>
          <p:cNvPr id="37" name="Text 35"/>
          <p:cNvSpPr/>
          <p:nvPr/>
        </p:nvSpPr>
        <p:spPr>
          <a:xfrm>
            <a:off x="8503920" y="5513832"/>
            <a:ext cx="2743200" cy="292608"/>
          </a:xfrm>
          <a:prstGeom prst="rect">
            <a:avLst/>
          </a:prstGeom>
          <a:noFill/>
          <a:ln/>
        </p:spPr>
        <p:txBody>
          <a:bodyPr wrap="square" lIns="0" tIns="0" rIns="0" bIns="0" rtlCol="0" anchor="ctr"/>
          <a:lstStyle/>
          <a:p>
            <a:pPr algn="r" indent="0" marL="0">
              <a:buNone/>
            </a:pPr>
            <a:r>
              <a:rPr lang="en-US" sz="1100" b="1" dirty="0">
                <a:solidFill>
                  <a:srgbClr val="06B6D4"/>
                </a:solidFill>
                <a:latin typeface="Calibri" pitchFamily="34" charset="0"/>
                <a:ea typeface="Calibri" pitchFamily="34" charset="-122"/>
                <a:cs typeface="Calibri" pitchFamily="34" charset="-120"/>
              </a:rPr>
              <a:t>$6,387/yr</a:t>
            </a:r>
            <a:endParaRPr lang="en-US" sz="1100" dirty="0"/>
          </a:p>
        </p:txBody>
      </p:sp>
      <p:sp>
        <p:nvSpPr>
          <p:cNvPr id="38" name="Shape 36"/>
          <p:cNvSpPr/>
          <p:nvPr/>
        </p:nvSpPr>
        <p:spPr>
          <a:xfrm>
            <a:off x="640080" y="6172200"/>
            <a:ext cx="10881360" cy="0"/>
          </a:xfrm>
          <a:prstGeom prst="line">
            <a:avLst/>
          </a:prstGeom>
          <a:noFill/>
          <a:ln w="3810">
            <a:solidFill>
              <a:srgbClr val="FFFFFF">
                <a:alpha val="10000"/>
              </a:srgbClr>
            </a:solidFill>
            <a:prstDash val="solid"/>
          </a:ln>
        </p:spPr>
      </p:sp>
      <p:sp>
        <p:nvSpPr>
          <p:cNvPr id="39" name="Text 37"/>
          <p:cNvSpPr/>
          <p:nvPr/>
        </p:nvSpPr>
        <p:spPr>
          <a:xfrm>
            <a:off x="685800" y="5852160"/>
            <a:ext cx="7772400" cy="29260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Net saving to your business — year 1</a:t>
            </a:r>
            <a:endParaRPr lang="en-US" sz="1100" dirty="0"/>
          </a:p>
        </p:txBody>
      </p:sp>
      <p:sp>
        <p:nvSpPr>
          <p:cNvPr id="40" name="Text 38"/>
          <p:cNvSpPr/>
          <p:nvPr/>
        </p:nvSpPr>
        <p:spPr>
          <a:xfrm>
            <a:off x="8503920" y="5852160"/>
            <a:ext cx="2743200" cy="292608"/>
          </a:xfrm>
          <a:prstGeom prst="rect">
            <a:avLst/>
          </a:prstGeom>
          <a:noFill/>
          <a:ln/>
        </p:spPr>
        <p:txBody>
          <a:bodyPr wrap="square" lIns="0" tIns="0" rIns="0" bIns="0" rtlCol="0" anchor="ctr"/>
          <a:lstStyle/>
          <a:p>
            <a:pPr algn="r" indent="0" marL="0">
              <a:buNone/>
            </a:pPr>
            <a:r>
              <a:rPr lang="en-US" sz="1100" b="1" dirty="0">
                <a:solidFill>
                  <a:srgbClr val="10B981"/>
                </a:solidFill>
                <a:latin typeface="Calibri" pitchFamily="34" charset="0"/>
                <a:ea typeface="Calibri" pitchFamily="34" charset="-122"/>
                <a:cs typeface="Calibri" pitchFamily="34" charset="-120"/>
              </a:rPr>
              <a:t>$123,769/yr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w="12700">
            <a:solidFill>
              <a:srgbClr val="0A0A0F"/>
            </a:solidFill>
            <a:prstDash val="solid"/>
          </a:ln>
        </p:spPr>
      </p:sp>
      <p:sp>
        <p:nvSpPr>
          <p:cNvPr id="3" name="Text 1"/>
          <p:cNvSpPr/>
          <p:nvPr/>
        </p:nvSpPr>
        <p:spPr>
          <a:xfrm>
            <a:off x="502920" y="320040"/>
            <a:ext cx="6400800" cy="201168"/>
          </a:xfrm>
          <a:prstGeom prst="rect">
            <a:avLst/>
          </a:prstGeom>
          <a:noFill/>
          <a:ln/>
        </p:spPr>
        <p:txBody>
          <a:bodyPr wrap="square" rtlCol="0" anchor="ctr"/>
          <a:lstStyle/>
          <a:p>
            <a:pPr indent="0" marL="0">
              <a:buNone/>
            </a:pPr>
            <a:r>
              <a:rPr lang="en-US" sz="800" b="1" spc="300" kern="0" dirty="0">
                <a:solidFill>
                  <a:srgbClr val="06B6D4"/>
                </a:solidFill>
                <a:latin typeface="Calibri" pitchFamily="34" charset="0"/>
                <a:ea typeface="Calibri" pitchFamily="34" charset="-122"/>
                <a:cs typeface="Calibri" pitchFamily="34" charset="-120"/>
              </a:rPr>
              <a:t>HOW IT WORKS</a:t>
            </a:r>
            <a:endParaRPr lang="en-US" sz="800" dirty="0"/>
          </a:p>
        </p:txBody>
      </p:sp>
      <p:sp>
        <p:nvSpPr>
          <p:cNvPr id="4" name="Text 2"/>
          <p:cNvSpPr/>
          <p:nvPr/>
        </p:nvSpPr>
        <p:spPr>
          <a:xfrm>
            <a:off x="502920" y="54864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One number. Every channel.</a:t>
            </a:r>
            <a:endParaRPr lang="en-US" sz="2600" dirty="0"/>
          </a:p>
          <a:p>
            <a:pPr indent="0" marL="0">
              <a:buNone/>
            </a:pPr>
            <a:r>
              <a:rPr lang="en-US" sz="2600" b="1" dirty="0">
                <a:solidFill>
                  <a:srgbClr val="FFFFFF"/>
                </a:solidFill>
                <a:latin typeface="Calibri" pitchFamily="34" charset="0"/>
                <a:ea typeface="Calibri" pitchFamily="34" charset="-122"/>
                <a:cs typeface="Calibri" pitchFamily="34" charset="-120"/>
              </a:rPr>
              <a:t>Right person. Every time.</a:t>
            </a:r>
            <a:endParaRPr lang="en-US" sz="2600" dirty="0"/>
          </a:p>
        </p:txBody>
      </p:sp>
      <p:sp>
        <p:nvSpPr>
          <p:cNvPr id="5" name="Shape 3"/>
          <p:cNvSpPr/>
          <p:nvPr/>
        </p:nvSpPr>
        <p:spPr>
          <a:xfrm>
            <a:off x="502920" y="1417320"/>
            <a:ext cx="11155680" cy="0"/>
          </a:xfrm>
          <a:prstGeom prst="line">
            <a:avLst/>
          </a:prstGeom>
          <a:noFill/>
          <a:ln w="5080">
            <a:solidFill>
              <a:srgbClr val="FFFFFF">
                <a:alpha val="20000"/>
              </a:srgbClr>
            </a:solidFill>
            <a:prstDash val="solid"/>
          </a:ln>
        </p:spPr>
      </p:sp>
      <p:sp>
        <p:nvSpPr>
          <p:cNvPr id="6" name="Shape 4"/>
          <p:cNvSpPr/>
          <p:nvPr/>
        </p:nvSpPr>
        <p:spPr>
          <a:xfrm>
            <a:off x="411480" y="1691640"/>
            <a:ext cx="2651760" cy="3200400"/>
          </a:xfrm>
          <a:prstGeom prst="roundRect">
            <a:avLst>
              <a:gd name="adj" fmla="val 3448"/>
            </a:avLst>
          </a:prstGeom>
          <a:solidFill>
            <a:srgbClr val="13131F"/>
          </a:solidFill>
          <a:ln w="6350">
            <a:solidFill>
              <a:srgbClr val="06B6D4">
                <a:alpha val="40000"/>
              </a:srgbClr>
            </a:solidFill>
            <a:prstDash val="solid"/>
          </a:ln>
        </p:spPr>
      </p:sp>
      <p:sp>
        <p:nvSpPr>
          <p:cNvPr id="7" name="Text 5"/>
          <p:cNvSpPr/>
          <p:nvPr/>
        </p:nvSpPr>
        <p:spPr>
          <a:xfrm>
            <a:off x="411480" y="1874520"/>
            <a:ext cx="265176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502920" y="2468880"/>
            <a:ext cx="246888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Driver or customer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makes contact</a:t>
            </a:r>
            <a:endParaRPr lang="en-US" sz="1200" dirty="0"/>
          </a:p>
        </p:txBody>
      </p:sp>
      <p:sp>
        <p:nvSpPr>
          <p:cNvPr id="9" name="Text 7"/>
          <p:cNvSpPr/>
          <p:nvPr/>
        </p:nvSpPr>
        <p:spPr>
          <a:xfrm>
            <a:off x="502920" y="3154680"/>
            <a:ext cx="2468880" cy="64008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Calls 1300 number, sends</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WhatsApp or SMS</a:t>
            </a:r>
            <a:endParaRPr lang="en-US" sz="1000" dirty="0"/>
          </a:p>
        </p:txBody>
      </p:sp>
      <p:sp>
        <p:nvSpPr>
          <p:cNvPr id="10" name="Text 8"/>
          <p:cNvSpPr/>
          <p:nvPr/>
        </p:nvSpPr>
        <p:spPr>
          <a:xfrm>
            <a:off x="3108960" y="2743200"/>
            <a:ext cx="228600" cy="365760"/>
          </a:xfrm>
          <a:prstGeom prst="rect">
            <a:avLst/>
          </a:prstGeom>
          <a:noFill/>
          <a:ln/>
        </p:spPr>
        <p:txBody>
          <a:bodyPr wrap="square" lIns="0" tIns="0" rIns="0" bIns="0" rtlCol="0" anchor="ctr"/>
          <a:lstStyle/>
          <a:p>
            <a:pPr algn="ctr" indent="0" marL="0">
              <a:buNone/>
            </a:pPr>
            <a:r>
              <a:rPr lang="en-US" sz="1600" dirty="0">
                <a:solidFill>
                  <a:srgbClr val="06B6D4"/>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3337560" y="1691640"/>
            <a:ext cx="2651760" cy="3200400"/>
          </a:xfrm>
          <a:prstGeom prst="roundRect">
            <a:avLst>
              <a:gd name="adj" fmla="val 3448"/>
            </a:avLst>
          </a:prstGeom>
          <a:solidFill>
            <a:srgbClr val="13131F"/>
          </a:solidFill>
          <a:ln w="6350">
            <a:solidFill>
              <a:srgbClr val="06B6D4">
                <a:alpha val="40000"/>
              </a:srgbClr>
            </a:solidFill>
            <a:prstDash val="solid"/>
          </a:ln>
        </p:spPr>
      </p:sp>
      <p:sp>
        <p:nvSpPr>
          <p:cNvPr id="12" name="Text 10"/>
          <p:cNvSpPr/>
          <p:nvPr/>
        </p:nvSpPr>
        <p:spPr>
          <a:xfrm>
            <a:off x="3337560" y="1874520"/>
            <a:ext cx="265176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3" name="Text 11"/>
          <p:cNvSpPr/>
          <p:nvPr/>
        </p:nvSpPr>
        <p:spPr>
          <a:xfrm>
            <a:off x="3429000" y="2468880"/>
            <a:ext cx="246888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Xiaro routing</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engine activates</a:t>
            </a:r>
            <a:endParaRPr lang="en-US" sz="1200" dirty="0"/>
          </a:p>
        </p:txBody>
      </p:sp>
      <p:sp>
        <p:nvSpPr>
          <p:cNvPr id="14" name="Text 12"/>
          <p:cNvSpPr/>
          <p:nvPr/>
        </p:nvSpPr>
        <p:spPr>
          <a:xfrm>
            <a:off x="3429000" y="3154680"/>
            <a:ext cx="2468880" cy="64008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Checks current time, shift</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roster and escalation rules</a:t>
            </a:r>
            <a:endParaRPr lang="en-US" sz="1000" dirty="0"/>
          </a:p>
        </p:txBody>
      </p:sp>
      <p:sp>
        <p:nvSpPr>
          <p:cNvPr id="15" name="Text 13"/>
          <p:cNvSpPr/>
          <p:nvPr/>
        </p:nvSpPr>
        <p:spPr>
          <a:xfrm>
            <a:off x="6035040" y="2743200"/>
            <a:ext cx="228600" cy="365760"/>
          </a:xfrm>
          <a:prstGeom prst="rect">
            <a:avLst/>
          </a:prstGeom>
          <a:noFill/>
          <a:ln/>
        </p:spPr>
        <p:txBody>
          <a:bodyPr wrap="square" lIns="0" tIns="0" rIns="0" bIns="0" rtlCol="0" anchor="ctr"/>
          <a:lstStyle/>
          <a:p>
            <a:pPr algn="ctr" indent="0" marL="0">
              <a:buNone/>
            </a:pPr>
            <a:r>
              <a:rPr lang="en-US" sz="1600" dirty="0">
                <a:solidFill>
                  <a:srgbClr val="06B6D4"/>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263640" y="1691640"/>
            <a:ext cx="2651760" cy="3200400"/>
          </a:xfrm>
          <a:prstGeom prst="roundRect">
            <a:avLst>
              <a:gd name="adj" fmla="val 3448"/>
            </a:avLst>
          </a:prstGeom>
          <a:solidFill>
            <a:srgbClr val="13131F"/>
          </a:solidFill>
          <a:ln w="6350">
            <a:solidFill>
              <a:srgbClr val="06B6D4">
                <a:alpha val="40000"/>
              </a:srgbClr>
            </a:solidFill>
            <a:prstDash val="solid"/>
          </a:ln>
        </p:spPr>
      </p:sp>
      <p:sp>
        <p:nvSpPr>
          <p:cNvPr id="17" name="Text 15"/>
          <p:cNvSpPr/>
          <p:nvPr/>
        </p:nvSpPr>
        <p:spPr>
          <a:xfrm>
            <a:off x="6263640" y="1874520"/>
            <a:ext cx="265176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6355080" y="2468880"/>
            <a:ext cx="246888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Correct supervisor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connected instantly</a:t>
            </a:r>
            <a:endParaRPr lang="en-US" sz="1200" dirty="0"/>
          </a:p>
        </p:txBody>
      </p:sp>
      <p:sp>
        <p:nvSpPr>
          <p:cNvPr id="19" name="Text 17"/>
          <p:cNvSpPr/>
          <p:nvPr/>
        </p:nvSpPr>
        <p:spPr>
          <a:xfrm>
            <a:off x="6355080" y="3154680"/>
            <a:ext cx="2468880" cy="64008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On-shift supervisor receives</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call, message or SMS</a:t>
            </a:r>
            <a:endParaRPr lang="en-US" sz="1000" dirty="0"/>
          </a:p>
        </p:txBody>
      </p:sp>
      <p:sp>
        <p:nvSpPr>
          <p:cNvPr id="20" name="Text 18"/>
          <p:cNvSpPr/>
          <p:nvPr/>
        </p:nvSpPr>
        <p:spPr>
          <a:xfrm>
            <a:off x="8961120" y="2743200"/>
            <a:ext cx="228600" cy="365760"/>
          </a:xfrm>
          <a:prstGeom prst="rect">
            <a:avLst/>
          </a:prstGeom>
          <a:noFill/>
          <a:ln/>
        </p:spPr>
        <p:txBody>
          <a:bodyPr wrap="square" lIns="0" tIns="0" rIns="0" bIns="0" rtlCol="0" anchor="ctr"/>
          <a:lstStyle/>
          <a:p>
            <a:pPr algn="ctr" indent="0" marL="0">
              <a:buNone/>
            </a:pPr>
            <a:r>
              <a:rPr lang="en-US" sz="1600" dirty="0">
                <a:solidFill>
                  <a:srgbClr val="06B6D4"/>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9189720" y="1691640"/>
            <a:ext cx="2651760" cy="3200400"/>
          </a:xfrm>
          <a:prstGeom prst="roundRect">
            <a:avLst>
              <a:gd name="adj" fmla="val 3448"/>
            </a:avLst>
          </a:prstGeom>
          <a:solidFill>
            <a:srgbClr val="13131F"/>
          </a:solidFill>
          <a:ln w="6350">
            <a:solidFill>
              <a:srgbClr val="06B6D4">
                <a:alpha val="40000"/>
              </a:srgbClr>
            </a:solidFill>
            <a:prstDash val="solid"/>
          </a:ln>
        </p:spPr>
      </p:sp>
      <p:sp>
        <p:nvSpPr>
          <p:cNvPr id="22" name="Text 20"/>
          <p:cNvSpPr/>
          <p:nvPr/>
        </p:nvSpPr>
        <p:spPr>
          <a:xfrm>
            <a:off x="9189720" y="1874520"/>
            <a:ext cx="265176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3" name="Text 21"/>
          <p:cNvSpPr/>
          <p:nvPr/>
        </p:nvSpPr>
        <p:spPr>
          <a:xfrm>
            <a:off x="9281160" y="2468880"/>
            <a:ext cx="2468880" cy="5943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Full audit trail</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recorded automatically</a:t>
            </a:r>
            <a:endParaRPr lang="en-US" sz="1200" dirty="0"/>
          </a:p>
        </p:txBody>
      </p:sp>
      <p:sp>
        <p:nvSpPr>
          <p:cNvPr id="24" name="Text 22"/>
          <p:cNvSpPr/>
          <p:nvPr/>
        </p:nvSpPr>
        <p:spPr>
          <a:xfrm>
            <a:off x="9281160" y="3154680"/>
            <a:ext cx="2468880" cy="64008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Timestamp, delivery confirm,</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message log stored</a:t>
            </a:r>
            <a:endParaRPr lang="en-US" sz="1000" dirty="0"/>
          </a:p>
        </p:txBody>
      </p:sp>
      <p:sp>
        <p:nvSpPr>
          <p:cNvPr id="25" name="Shape 23"/>
          <p:cNvSpPr/>
          <p:nvPr/>
        </p:nvSpPr>
        <p:spPr>
          <a:xfrm>
            <a:off x="411480" y="5074920"/>
            <a:ext cx="11338560" cy="1325880"/>
          </a:xfrm>
          <a:prstGeom prst="roundRect">
            <a:avLst>
              <a:gd name="adj" fmla="val 6897"/>
            </a:avLst>
          </a:prstGeom>
          <a:solidFill>
            <a:srgbClr val="13131F"/>
          </a:solidFill>
          <a:ln w="6350">
            <a:solidFill>
              <a:srgbClr val="FFFFFF">
                <a:alpha val="12000"/>
              </a:srgbClr>
            </a:solidFill>
            <a:prstDash val="solid"/>
          </a:ln>
        </p:spPr>
      </p:sp>
      <p:sp>
        <p:nvSpPr>
          <p:cNvPr id="26" name="Text 24"/>
          <p:cNvSpPr/>
          <p:nvPr/>
        </p:nvSpPr>
        <p:spPr>
          <a:xfrm>
            <a:off x="640080" y="5166360"/>
            <a:ext cx="2743200" cy="274320"/>
          </a:xfrm>
          <a:prstGeom prst="rect">
            <a:avLst/>
          </a:prstGeom>
          <a:noFill/>
          <a:ln/>
        </p:spPr>
        <p:txBody>
          <a:bodyPr wrap="square" lIns="0" tIns="0" rIns="0" bIns="0" rtlCol="0" anchor="ctr"/>
          <a:lstStyle/>
          <a:p>
            <a:pPr indent="0" marL="0">
              <a:buNone/>
            </a:pPr>
            <a:r>
              <a:rPr lang="en-US" sz="1000" b="1" spc="100" kern="0" dirty="0">
                <a:solidFill>
                  <a:srgbClr val="06B6D4"/>
                </a:solidFill>
                <a:latin typeface="Calibri" pitchFamily="34" charset="0"/>
                <a:ea typeface="Calibri" pitchFamily="34" charset="-122"/>
                <a:cs typeface="Calibri" pitchFamily="34" charset="-120"/>
              </a:rPr>
              <a:t>Channels supported</a:t>
            </a:r>
            <a:endParaRPr lang="en-US" sz="1000" dirty="0"/>
          </a:p>
        </p:txBody>
      </p:sp>
      <p:sp>
        <p:nvSpPr>
          <p:cNvPr id="27" name="Text 25"/>
          <p:cNvSpPr/>
          <p:nvPr/>
        </p:nvSpPr>
        <p:spPr>
          <a:xfrm>
            <a:off x="3200400" y="5212080"/>
            <a:ext cx="2560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Voice calls</a:t>
            </a:r>
            <a:endParaRPr lang="en-US" sz="1100" dirty="0"/>
          </a:p>
        </p:txBody>
      </p:sp>
      <p:sp>
        <p:nvSpPr>
          <p:cNvPr id="28" name="Text 26"/>
          <p:cNvSpPr/>
          <p:nvPr/>
        </p:nvSpPr>
        <p:spPr>
          <a:xfrm>
            <a:off x="3200400" y="5486400"/>
            <a:ext cx="256032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1300/1800 via Alltel</a:t>
            </a:r>
            <a:endParaRPr lang="en-US" sz="950" dirty="0"/>
          </a:p>
        </p:txBody>
      </p:sp>
      <p:sp>
        <p:nvSpPr>
          <p:cNvPr id="29" name="Text 27"/>
          <p:cNvSpPr/>
          <p:nvPr/>
        </p:nvSpPr>
        <p:spPr>
          <a:xfrm>
            <a:off x="6126480" y="5212080"/>
            <a:ext cx="2560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WhatsApp</a:t>
            </a:r>
            <a:endParaRPr lang="en-US" sz="1100" dirty="0"/>
          </a:p>
        </p:txBody>
      </p:sp>
      <p:sp>
        <p:nvSpPr>
          <p:cNvPr id="30" name="Text 28"/>
          <p:cNvSpPr/>
          <p:nvPr/>
        </p:nvSpPr>
        <p:spPr>
          <a:xfrm>
            <a:off x="6126480" y="5486400"/>
            <a:ext cx="256032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Business API via 360dialog</a:t>
            </a:r>
            <a:endParaRPr lang="en-US" sz="950" dirty="0"/>
          </a:p>
        </p:txBody>
      </p:sp>
      <p:sp>
        <p:nvSpPr>
          <p:cNvPr id="31" name="Text 29"/>
          <p:cNvSpPr/>
          <p:nvPr/>
        </p:nvSpPr>
        <p:spPr>
          <a:xfrm>
            <a:off x="9052560" y="5212080"/>
            <a:ext cx="2560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SMS</a:t>
            </a:r>
            <a:endParaRPr lang="en-US" sz="1100" dirty="0"/>
          </a:p>
        </p:txBody>
      </p:sp>
      <p:sp>
        <p:nvSpPr>
          <p:cNvPr id="32" name="Text 30"/>
          <p:cNvSpPr/>
          <p:nvPr/>
        </p:nvSpPr>
        <p:spPr>
          <a:xfrm>
            <a:off x="9052560" y="5486400"/>
            <a:ext cx="2560320" cy="22860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Fallback via VoIPline/Notifyre</a:t>
            </a:r>
            <a:endParaRPr lang="en-US" sz="950" dirty="0"/>
          </a:p>
        </p:txBody>
      </p:sp>
      <p:sp>
        <p:nvSpPr>
          <p:cNvPr id="33" name="Text 31"/>
          <p:cNvSpPr/>
          <p:nvPr/>
        </p:nvSpPr>
        <p:spPr>
          <a:xfrm>
            <a:off x="3200400" y="5760720"/>
            <a:ext cx="8229600" cy="228600"/>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Customer owns &amp;amp; pays for their service accounts. Xiaro is the routing intelligence layer.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w="12700">
            <a:solidFill>
              <a:srgbClr val="0A0A0F"/>
            </a:solidFill>
            <a:prstDash val="solid"/>
          </a:ln>
        </p:spPr>
      </p:sp>
      <p:sp>
        <p:nvSpPr>
          <p:cNvPr id="3" name="Text 1"/>
          <p:cNvSpPr/>
          <p:nvPr/>
        </p:nvSpPr>
        <p:spPr>
          <a:xfrm>
            <a:off x="502920" y="320040"/>
            <a:ext cx="6400800" cy="201168"/>
          </a:xfrm>
          <a:prstGeom prst="rect">
            <a:avLst/>
          </a:prstGeom>
          <a:noFill/>
          <a:ln/>
        </p:spPr>
        <p:txBody>
          <a:bodyPr wrap="square" rtlCol="0" anchor="ctr"/>
          <a:lstStyle/>
          <a:p>
            <a:pPr indent="0" marL="0">
              <a:buNone/>
            </a:pPr>
            <a:r>
              <a:rPr lang="en-US" sz="800" b="1" spc="300" kern="0" dirty="0">
                <a:solidFill>
                  <a:srgbClr val="06B6D4"/>
                </a:solidFill>
                <a:latin typeface="Calibri" pitchFamily="34" charset="0"/>
                <a:ea typeface="Calibri" pitchFamily="34" charset="-122"/>
                <a:cs typeface="Calibri" pitchFamily="34" charset="-120"/>
              </a:rPr>
              <a:t>INVESTMENT</a:t>
            </a:r>
            <a:endParaRPr lang="en-US" sz="800" dirty="0"/>
          </a:p>
        </p:txBody>
      </p:sp>
      <p:sp>
        <p:nvSpPr>
          <p:cNvPr id="4" name="Text 2"/>
          <p:cNvSpPr/>
          <p:nvPr/>
        </p:nvSpPr>
        <p:spPr>
          <a:xfrm>
            <a:off x="502920" y="54864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Clean, transparent pricing.</a:t>
            </a:r>
            <a:endParaRPr lang="en-US" sz="2600" dirty="0"/>
          </a:p>
          <a:p>
            <a:pPr indent="0" marL="0">
              <a:buNone/>
            </a:pPr>
            <a:r>
              <a:rPr lang="en-US" sz="2600" b="1" dirty="0">
                <a:solidFill>
                  <a:srgbClr val="FFFFFF"/>
                </a:solidFill>
                <a:latin typeface="Calibri" pitchFamily="34" charset="0"/>
                <a:ea typeface="Calibri" pitchFamily="34" charset="-122"/>
                <a:cs typeface="Calibri" pitchFamily="34" charset="-120"/>
              </a:rPr>
              <a:t>You own the infrastructure.</a:t>
            </a:r>
            <a:endParaRPr lang="en-US" sz="2600" dirty="0"/>
          </a:p>
        </p:txBody>
      </p:sp>
      <p:sp>
        <p:nvSpPr>
          <p:cNvPr id="5" name="Shape 3"/>
          <p:cNvSpPr/>
          <p:nvPr/>
        </p:nvSpPr>
        <p:spPr>
          <a:xfrm>
            <a:off x="502920" y="1417320"/>
            <a:ext cx="11155680" cy="0"/>
          </a:xfrm>
          <a:prstGeom prst="line">
            <a:avLst/>
          </a:prstGeom>
          <a:noFill/>
          <a:ln w="5080">
            <a:solidFill>
              <a:srgbClr val="FFFFFF">
                <a:alpha val="20000"/>
              </a:srgbClr>
            </a:solidFill>
            <a:prstDash val="solid"/>
          </a:ln>
        </p:spPr>
      </p:sp>
      <p:sp>
        <p:nvSpPr>
          <p:cNvPr id="6" name="Text 4"/>
          <p:cNvSpPr/>
          <p:nvPr/>
        </p:nvSpPr>
        <p:spPr>
          <a:xfrm>
            <a:off x="502920" y="1508760"/>
            <a:ext cx="100584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Xiaro charges for the routing intelligence only. Your Alltel, VoIPline and 360dialog costs are separate and under your control.</a:t>
            </a:r>
            <a:endParaRPr lang="en-US" sz="1300" dirty="0"/>
          </a:p>
        </p:txBody>
      </p:sp>
      <p:sp>
        <p:nvSpPr>
          <p:cNvPr id="7" name="Shape 5"/>
          <p:cNvSpPr/>
          <p:nvPr/>
        </p:nvSpPr>
        <p:spPr>
          <a:xfrm>
            <a:off x="411480" y="1783080"/>
            <a:ext cx="2743200" cy="4663440"/>
          </a:xfrm>
          <a:prstGeom prst="roundRect">
            <a:avLst>
              <a:gd name="adj" fmla="val 3333"/>
            </a:avLst>
          </a:prstGeom>
          <a:solidFill>
            <a:srgbClr val="13131F"/>
          </a:solidFill>
          <a:ln w="6350">
            <a:solidFill>
              <a:srgbClr val="FFFFFF">
                <a:alpha val="15000"/>
              </a:srgbClr>
            </a:solidFill>
            <a:prstDash val="solid"/>
          </a:ln>
        </p:spPr>
      </p:sp>
      <p:sp>
        <p:nvSpPr>
          <p:cNvPr id="8" name="Text 6"/>
          <p:cNvSpPr/>
          <p:nvPr/>
        </p:nvSpPr>
        <p:spPr>
          <a:xfrm>
            <a:off x="502920" y="1920240"/>
            <a:ext cx="2560320" cy="256032"/>
          </a:xfrm>
          <a:prstGeom prst="rect">
            <a:avLst/>
          </a:prstGeom>
          <a:noFill/>
          <a:ln/>
        </p:spPr>
        <p:txBody>
          <a:bodyPr wrap="square" lIns="0" tIns="0" rIns="0" bIns="0" rtlCol="0" anchor="ctr"/>
          <a:lstStyle/>
          <a:p>
            <a:pPr algn="ctr" indent="0" marL="0">
              <a:buNone/>
            </a:pPr>
            <a:r>
              <a:rPr lang="en-US" sz="900" b="1" spc="200" kern="0" dirty="0">
                <a:solidFill>
                  <a:srgbClr val="94A3B8"/>
                </a:solidFill>
                <a:latin typeface="Calibri" pitchFamily="34" charset="0"/>
                <a:ea typeface="Calibri" pitchFamily="34" charset="-122"/>
                <a:cs typeface="Calibri" pitchFamily="34" charset="-120"/>
              </a:rPr>
              <a:t>STARTER</a:t>
            </a:r>
            <a:endParaRPr lang="en-US" sz="900" dirty="0"/>
          </a:p>
        </p:txBody>
      </p:sp>
      <p:sp>
        <p:nvSpPr>
          <p:cNvPr id="9" name="Text 7"/>
          <p:cNvSpPr/>
          <p:nvPr/>
        </p:nvSpPr>
        <p:spPr>
          <a:xfrm>
            <a:off x="502920" y="2176272"/>
            <a:ext cx="256032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$149/mo</a:t>
            </a:r>
            <a:endParaRPr lang="en-US" sz="2600" dirty="0"/>
          </a:p>
        </p:txBody>
      </p:sp>
      <p:sp>
        <p:nvSpPr>
          <p:cNvPr id="10" name="Text 8"/>
          <p:cNvSpPr/>
          <p:nvPr/>
        </p:nvSpPr>
        <p:spPr>
          <a:xfrm>
            <a:off x="502920" y="2724912"/>
            <a:ext cx="2560320" cy="29260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1 depot · up to 20 drivers</a:t>
            </a:r>
            <a:endParaRPr lang="en-US" sz="900" dirty="0"/>
          </a:p>
        </p:txBody>
      </p:sp>
      <p:sp>
        <p:nvSpPr>
          <p:cNvPr id="11" name="Shape 9"/>
          <p:cNvSpPr/>
          <p:nvPr/>
        </p:nvSpPr>
        <p:spPr>
          <a:xfrm>
            <a:off x="594360" y="3063240"/>
            <a:ext cx="2377440" cy="0"/>
          </a:xfrm>
          <a:prstGeom prst="line">
            <a:avLst/>
          </a:prstGeom>
          <a:noFill/>
          <a:ln w="3810">
            <a:solidFill>
              <a:srgbClr val="FFFFFF">
                <a:alpha val="15000"/>
              </a:srgbClr>
            </a:solidFill>
            <a:prstDash val="solid"/>
          </a:ln>
        </p:spPr>
      </p:sp>
      <p:sp>
        <p:nvSpPr>
          <p:cNvPr id="12" name="Shape 10"/>
          <p:cNvSpPr/>
          <p:nvPr/>
        </p:nvSpPr>
        <p:spPr>
          <a:xfrm>
            <a:off x="548640" y="3218688"/>
            <a:ext cx="146304" cy="146304"/>
          </a:xfrm>
          <a:prstGeom prst="ellipse">
            <a:avLst/>
          </a:prstGeom>
          <a:solidFill>
            <a:srgbClr val="10B981">
              <a:alpha val="25000"/>
            </a:srgbClr>
          </a:solidFill>
          <a:ln w="6350">
            <a:solidFill>
              <a:srgbClr val="10B981"/>
            </a:solidFill>
            <a:prstDash val="solid"/>
          </a:ln>
        </p:spPr>
      </p:sp>
      <p:sp>
        <p:nvSpPr>
          <p:cNvPr id="13" name="Text 11"/>
          <p:cNvSpPr/>
          <p:nvPr/>
        </p:nvSpPr>
        <p:spPr>
          <a:xfrm>
            <a:off x="548640" y="3204972"/>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14" name="Text 12"/>
          <p:cNvSpPr/>
          <p:nvPr/>
        </p:nvSpPr>
        <p:spPr>
          <a:xfrm>
            <a:off x="749808" y="3182112"/>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SMS routing</a:t>
            </a:r>
            <a:endParaRPr lang="en-US" sz="1000" dirty="0"/>
          </a:p>
        </p:txBody>
      </p:sp>
      <p:sp>
        <p:nvSpPr>
          <p:cNvPr id="15" name="Shape 13"/>
          <p:cNvSpPr/>
          <p:nvPr/>
        </p:nvSpPr>
        <p:spPr>
          <a:xfrm>
            <a:off x="548640" y="3602736"/>
            <a:ext cx="146304" cy="146304"/>
          </a:xfrm>
          <a:prstGeom prst="ellipse">
            <a:avLst/>
          </a:prstGeom>
          <a:solidFill>
            <a:srgbClr val="10B981">
              <a:alpha val="25000"/>
            </a:srgbClr>
          </a:solidFill>
          <a:ln w="6350">
            <a:solidFill>
              <a:srgbClr val="10B981"/>
            </a:solidFill>
            <a:prstDash val="solid"/>
          </a:ln>
        </p:spPr>
      </p:sp>
      <p:sp>
        <p:nvSpPr>
          <p:cNvPr id="16" name="Text 14"/>
          <p:cNvSpPr/>
          <p:nvPr/>
        </p:nvSpPr>
        <p:spPr>
          <a:xfrm>
            <a:off x="548640" y="3589020"/>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17" name="Text 15"/>
          <p:cNvSpPr/>
          <p:nvPr/>
        </p:nvSpPr>
        <p:spPr>
          <a:xfrm>
            <a:off x="749808" y="3566160"/>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WhatsApp routing</a:t>
            </a:r>
            <a:endParaRPr lang="en-US" sz="1000" dirty="0"/>
          </a:p>
        </p:txBody>
      </p:sp>
      <p:sp>
        <p:nvSpPr>
          <p:cNvPr id="18" name="Shape 16"/>
          <p:cNvSpPr/>
          <p:nvPr/>
        </p:nvSpPr>
        <p:spPr>
          <a:xfrm>
            <a:off x="548640" y="3986784"/>
            <a:ext cx="146304" cy="146304"/>
          </a:xfrm>
          <a:prstGeom prst="ellipse">
            <a:avLst/>
          </a:prstGeom>
          <a:solidFill>
            <a:srgbClr val="10B981">
              <a:alpha val="25000"/>
            </a:srgbClr>
          </a:solidFill>
          <a:ln w="6350">
            <a:solidFill>
              <a:srgbClr val="10B981"/>
            </a:solidFill>
            <a:prstDash val="solid"/>
          </a:ln>
        </p:spPr>
      </p:sp>
      <p:sp>
        <p:nvSpPr>
          <p:cNvPr id="19" name="Text 17"/>
          <p:cNvSpPr/>
          <p:nvPr/>
        </p:nvSpPr>
        <p:spPr>
          <a:xfrm>
            <a:off x="548640" y="3973068"/>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20" name="Text 18"/>
          <p:cNvSpPr/>
          <p:nvPr/>
        </p:nvSpPr>
        <p:spPr>
          <a:xfrm>
            <a:off x="749808" y="3950208"/>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3 supervisors</a:t>
            </a:r>
            <a:endParaRPr lang="en-US" sz="1000" dirty="0"/>
          </a:p>
        </p:txBody>
      </p:sp>
      <p:sp>
        <p:nvSpPr>
          <p:cNvPr id="21" name="Shape 19"/>
          <p:cNvSpPr/>
          <p:nvPr/>
        </p:nvSpPr>
        <p:spPr>
          <a:xfrm>
            <a:off x="548640" y="4370832"/>
            <a:ext cx="146304" cy="146304"/>
          </a:xfrm>
          <a:prstGeom prst="ellipse">
            <a:avLst/>
          </a:prstGeom>
          <a:solidFill>
            <a:srgbClr val="10B981">
              <a:alpha val="25000"/>
            </a:srgbClr>
          </a:solidFill>
          <a:ln w="6350">
            <a:solidFill>
              <a:srgbClr val="10B981"/>
            </a:solidFill>
            <a:prstDash val="solid"/>
          </a:ln>
        </p:spPr>
      </p:sp>
      <p:sp>
        <p:nvSpPr>
          <p:cNvPr id="22" name="Text 20"/>
          <p:cNvSpPr/>
          <p:nvPr/>
        </p:nvSpPr>
        <p:spPr>
          <a:xfrm>
            <a:off x="548640" y="4357116"/>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23" name="Text 21"/>
          <p:cNvSpPr/>
          <p:nvPr/>
        </p:nvSpPr>
        <p:spPr>
          <a:xfrm>
            <a:off x="749808" y="4334256"/>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4 shift windows</a:t>
            </a:r>
            <a:endParaRPr lang="en-US" sz="1000" dirty="0"/>
          </a:p>
        </p:txBody>
      </p:sp>
      <p:sp>
        <p:nvSpPr>
          <p:cNvPr id="24" name="Shape 22"/>
          <p:cNvSpPr/>
          <p:nvPr/>
        </p:nvSpPr>
        <p:spPr>
          <a:xfrm>
            <a:off x="548640" y="4754880"/>
            <a:ext cx="146304" cy="146304"/>
          </a:xfrm>
          <a:prstGeom prst="ellipse">
            <a:avLst/>
          </a:prstGeom>
          <a:solidFill>
            <a:srgbClr val="10B981">
              <a:alpha val="25000"/>
            </a:srgbClr>
          </a:solidFill>
          <a:ln w="6350">
            <a:solidFill>
              <a:srgbClr val="10B981"/>
            </a:solidFill>
            <a:prstDash val="solid"/>
          </a:ln>
        </p:spPr>
      </p:sp>
      <p:sp>
        <p:nvSpPr>
          <p:cNvPr id="25" name="Text 23"/>
          <p:cNvSpPr/>
          <p:nvPr/>
        </p:nvSpPr>
        <p:spPr>
          <a:xfrm>
            <a:off x="548640" y="4741164"/>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26" name="Text 24"/>
          <p:cNvSpPr/>
          <p:nvPr/>
        </p:nvSpPr>
        <p:spPr>
          <a:xfrm>
            <a:off x="749808" y="4718304"/>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30-day message history</a:t>
            </a:r>
            <a:endParaRPr lang="en-US" sz="1000" dirty="0"/>
          </a:p>
        </p:txBody>
      </p:sp>
      <p:sp>
        <p:nvSpPr>
          <p:cNvPr id="27" name="Shape 25"/>
          <p:cNvSpPr/>
          <p:nvPr/>
        </p:nvSpPr>
        <p:spPr>
          <a:xfrm>
            <a:off x="548640" y="5989320"/>
            <a:ext cx="2468880" cy="347472"/>
          </a:xfrm>
          <a:prstGeom prst="roundRect">
            <a:avLst>
              <a:gd name="adj" fmla="val 21053"/>
            </a:avLst>
          </a:prstGeom>
          <a:solidFill>
            <a:srgbClr val="FFFFFF">
              <a:alpha val="10000"/>
            </a:srgbClr>
          </a:solidFill>
          <a:ln w="6350">
            <a:solidFill>
              <a:srgbClr val="FFFFFF">
                <a:alpha val="25000"/>
              </a:srgbClr>
            </a:solidFill>
            <a:prstDash val="solid"/>
          </a:ln>
        </p:spPr>
      </p:sp>
      <p:sp>
        <p:nvSpPr>
          <p:cNvPr id="28" name="Text 26"/>
          <p:cNvSpPr/>
          <p:nvPr/>
        </p:nvSpPr>
        <p:spPr>
          <a:xfrm>
            <a:off x="548640" y="5989320"/>
            <a:ext cx="2468880" cy="347472"/>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Get started</a:t>
            </a:r>
            <a:endParaRPr lang="en-US" sz="900" dirty="0"/>
          </a:p>
        </p:txBody>
      </p:sp>
      <p:sp>
        <p:nvSpPr>
          <p:cNvPr id="29" name="Shape 27"/>
          <p:cNvSpPr/>
          <p:nvPr/>
        </p:nvSpPr>
        <p:spPr>
          <a:xfrm>
            <a:off x="3337560" y="1783080"/>
            <a:ext cx="2743200" cy="4663440"/>
          </a:xfrm>
          <a:prstGeom prst="roundRect">
            <a:avLst>
              <a:gd name="adj" fmla="val 3333"/>
            </a:avLst>
          </a:prstGeom>
          <a:solidFill>
            <a:srgbClr val="13131F"/>
          </a:solidFill>
          <a:ln w="19050">
            <a:solidFill>
              <a:srgbClr val="06B6D4">
                <a:alpha val="70000"/>
              </a:srgbClr>
            </a:solidFill>
            <a:prstDash val="solid"/>
          </a:ln>
        </p:spPr>
      </p:sp>
      <p:sp>
        <p:nvSpPr>
          <p:cNvPr id="30" name="Shape 28"/>
          <p:cNvSpPr/>
          <p:nvPr/>
        </p:nvSpPr>
        <p:spPr>
          <a:xfrm>
            <a:off x="3794760" y="1572768"/>
            <a:ext cx="1828800" cy="292608"/>
          </a:xfrm>
          <a:prstGeom prst="roundRect">
            <a:avLst>
              <a:gd name="adj" fmla="val 50000"/>
            </a:avLst>
          </a:prstGeom>
          <a:solidFill>
            <a:srgbClr val="06B6D4"/>
          </a:solidFill>
          <a:ln w="12700">
            <a:solidFill>
              <a:srgbClr val="06B6D4"/>
            </a:solidFill>
            <a:prstDash val="solid"/>
          </a:ln>
        </p:spPr>
      </p:sp>
      <p:sp>
        <p:nvSpPr>
          <p:cNvPr id="31" name="Text 29"/>
          <p:cNvSpPr/>
          <p:nvPr/>
        </p:nvSpPr>
        <p:spPr>
          <a:xfrm>
            <a:off x="3794760" y="1572768"/>
            <a:ext cx="1828800" cy="292608"/>
          </a:xfrm>
          <a:prstGeom prst="rect">
            <a:avLst/>
          </a:prstGeom>
          <a:noFill/>
          <a:ln/>
        </p:spPr>
        <p:txBody>
          <a:bodyPr wrap="square" lIns="0" tIns="0" rIns="0" bIns="0" rtlCol="0" anchor="ctr"/>
          <a:lstStyle/>
          <a:p>
            <a:pPr algn="ctr" indent="0" marL="0">
              <a:buNone/>
            </a:pPr>
            <a:r>
              <a:rPr lang="en-US" sz="800" b="1" spc="100" kern="0" dirty="0">
                <a:solidFill>
                  <a:srgbClr val="0A0A0F"/>
                </a:solidFill>
                <a:latin typeface="Calibri" pitchFamily="34" charset="0"/>
                <a:ea typeface="Calibri" pitchFamily="34" charset="-122"/>
                <a:cs typeface="Calibri" pitchFamily="34" charset="-120"/>
              </a:rPr>
              <a:t>RECOMMENDED</a:t>
            </a:r>
            <a:endParaRPr lang="en-US" sz="800" dirty="0"/>
          </a:p>
        </p:txBody>
      </p:sp>
      <p:sp>
        <p:nvSpPr>
          <p:cNvPr id="32" name="Text 30"/>
          <p:cNvSpPr/>
          <p:nvPr/>
        </p:nvSpPr>
        <p:spPr>
          <a:xfrm>
            <a:off x="3429000" y="1920240"/>
            <a:ext cx="2560320" cy="256032"/>
          </a:xfrm>
          <a:prstGeom prst="rect">
            <a:avLst/>
          </a:prstGeom>
          <a:noFill/>
          <a:ln/>
        </p:spPr>
        <p:txBody>
          <a:bodyPr wrap="square" lIns="0" tIns="0" rIns="0" bIns="0" rtlCol="0" anchor="ctr"/>
          <a:lstStyle/>
          <a:p>
            <a:pPr algn="ctr" indent="0" marL="0">
              <a:buNone/>
            </a:pPr>
            <a:r>
              <a:rPr lang="en-US" sz="900" b="1" spc="200" kern="0" dirty="0">
                <a:solidFill>
                  <a:srgbClr val="06B6D4"/>
                </a:solidFill>
                <a:latin typeface="Calibri" pitchFamily="34" charset="0"/>
                <a:ea typeface="Calibri" pitchFamily="34" charset="-122"/>
                <a:cs typeface="Calibri" pitchFamily="34" charset="-120"/>
              </a:rPr>
              <a:t>OPERATIONS</a:t>
            </a:r>
            <a:endParaRPr lang="en-US" sz="900" dirty="0"/>
          </a:p>
        </p:txBody>
      </p:sp>
      <p:sp>
        <p:nvSpPr>
          <p:cNvPr id="33" name="Text 31"/>
          <p:cNvSpPr/>
          <p:nvPr/>
        </p:nvSpPr>
        <p:spPr>
          <a:xfrm>
            <a:off x="3429000" y="2176272"/>
            <a:ext cx="256032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$349/mo</a:t>
            </a:r>
            <a:endParaRPr lang="en-US" sz="2600" dirty="0"/>
          </a:p>
        </p:txBody>
      </p:sp>
      <p:sp>
        <p:nvSpPr>
          <p:cNvPr id="34" name="Text 32"/>
          <p:cNvSpPr/>
          <p:nvPr/>
        </p:nvSpPr>
        <p:spPr>
          <a:xfrm>
            <a:off x="3429000" y="2724912"/>
            <a:ext cx="2560320" cy="29260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1–2 depots · up to 150 drivers</a:t>
            </a:r>
            <a:endParaRPr lang="en-US" sz="900" dirty="0"/>
          </a:p>
        </p:txBody>
      </p:sp>
      <p:sp>
        <p:nvSpPr>
          <p:cNvPr id="35" name="Shape 33"/>
          <p:cNvSpPr/>
          <p:nvPr/>
        </p:nvSpPr>
        <p:spPr>
          <a:xfrm>
            <a:off x="3520440" y="3063240"/>
            <a:ext cx="2377440" cy="0"/>
          </a:xfrm>
          <a:prstGeom prst="line">
            <a:avLst/>
          </a:prstGeom>
          <a:noFill/>
          <a:ln w="3810">
            <a:solidFill>
              <a:srgbClr val="FFFFFF">
                <a:alpha val="15000"/>
              </a:srgbClr>
            </a:solidFill>
            <a:prstDash val="solid"/>
          </a:ln>
        </p:spPr>
      </p:sp>
      <p:sp>
        <p:nvSpPr>
          <p:cNvPr id="36" name="Shape 34"/>
          <p:cNvSpPr/>
          <p:nvPr/>
        </p:nvSpPr>
        <p:spPr>
          <a:xfrm>
            <a:off x="3474720" y="3218688"/>
            <a:ext cx="146304" cy="146304"/>
          </a:xfrm>
          <a:prstGeom prst="ellipse">
            <a:avLst/>
          </a:prstGeom>
          <a:solidFill>
            <a:srgbClr val="06B6D4">
              <a:alpha val="25000"/>
            </a:srgbClr>
          </a:solidFill>
          <a:ln w="6350">
            <a:solidFill>
              <a:srgbClr val="06B6D4"/>
            </a:solidFill>
            <a:prstDash val="solid"/>
          </a:ln>
        </p:spPr>
      </p:sp>
      <p:sp>
        <p:nvSpPr>
          <p:cNvPr id="37" name="Text 35"/>
          <p:cNvSpPr/>
          <p:nvPr/>
        </p:nvSpPr>
        <p:spPr>
          <a:xfrm>
            <a:off x="3474720" y="3204972"/>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38" name="Text 36"/>
          <p:cNvSpPr/>
          <p:nvPr/>
        </p:nvSpPr>
        <p:spPr>
          <a:xfrm>
            <a:off x="3675888" y="3182112"/>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Everything in Starter</a:t>
            </a:r>
            <a:endParaRPr lang="en-US" sz="1000" dirty="0"/>
          </a:p>
        </p:txBody>
      </p:sp>
      <p:sp>
        <p:nvSpPr>
          <p:cNvPr id="39" name="Shape 37"/>
          <p:cNvSpPr/>
          <p:nvPr/>
        </p:nvSpPr>
        <p:spPr>
          <a:xfrm>
            <a:off x="3474720" y="3602736"/>
            <a:ext cx="146304" cy="146304"/>
          </a:xfrm>
          <a:prstGeom prst="ellipse">
            <a:avLst/>
          </a:prstGeom>
          <a:solidFill>
            <a:srgbClr val="06B6D4">
              <a:alpha val="25000"/>
            </a:srgbClr>
          </a:solidFill>
          <a:ln w="6350">
            <a:solidFill>
              <a:srgbClr val="06B6D4"/>
            </a:solidFill>
            <a:prstDash val="solid"/>
          </a:ln>
        </p:spPr>
      </p:sp>
      <p:sp>
        <p:nvSpPr>
          <p:cNvPr id="40" name="Text 38"/>
          <p:cNvSpPr/>
          <p:nvPr/>
        </p:nvSpPr>
        <p:spPr>
          <a:xfrm>
            <a:off x="3474720" y="3589020"/>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41" name="Text 39"/>
          <p:cNvSpPr/>
          <p:nvPr/>
        </p:nvSpPr>
        <p:spPr>
          <a:xfrm>
            <a:off x="3675888" y="3566160"/>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Voice routing (1300/1800)</a:t>
            </a:r>
            <a:endParaRPr lang="en-US" sz="1000" dirty="0"/>
          </a:p>
        </p:txBody>
      </p:sp>
      <p:sp>
        <p:nvSpPr>
          <p:cNvPr id="42" name="Shape 40"/>
          <p:cNvSpPr/>
          <p:nvPr/>
        </p:nvSpPr>
        <p:spPr>
          <a:xfrm>
            <a:off x="3474720" y="3986784"/>
            <a:ext cx="146304" cy="146304"/>
          </a:xfrm>
          <a:prstGeom prst="ellipse">
            <a:avLst/>
          </a:prstGeom>
          <a:solidFill>
            <a:srgbClr val="06B6D4">
              <a:alpha val="25000"/>
            </a:srgbClr>
          </a:solidFill>
          <a:ln w="6350">
            <a:solidFill>
              <a:srgbClr val="06B6D4"/>
            </a:solidFill>
            <a:prstDash val="solid"/>
          </a:ln>
        </p:spPr>
      </p:sp>
      <p:sp>
        <p:nvSpPr>
          <p:cNvPr id="43" name="Text 41"/>
          <p:cNvSpPr/>
          <p:nvPr/>
        </p:nvSpPr>
        <p:spPr>
          <a:xfrm>
            <a:off x="3474720" y="3973068"/>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44" name="Text 42"/>
          <p:cNvSpPr/>
          <p:nvPr/>
        </p:nvSpPr>
        <p:spPr>
          <a:xfrm>
            <a:off x="3675888" y="3950208"/>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8 supervisors</a:t>
            </a:r>
            <a:endParaRPr lang="en-US" sz="1000" dirty="0"/>
          </a:p>
        </p:txBody>
      </p:sp>
      <p:sp>
        <p:nvSpPr>
          <p:cNvPr id="45" name="Shape 43"/>
          <p:cNvSpPr/>
          <p:nvPr/>
        </p:nvSpPr>
        <p:spPr>
          <a:xfrm>
            <a:off x="3474720" y="4370832"/>
            <a:ext cx="146304" cy="146304"/>
          </a:xfrm>
          <a:prstGeom prst="ellipse">
            <a:avLst/>
          </a:prstGeom>
          <a:solidFill>
            <a:srgbClr val="06B6D4">
              <a:alpha val="25000"/>
            </a:srgbClr>
          </a:solidFill>
          <a:ln w="6350">
            <a:solidFill>
              <a:srgbClr val="06B6D4"/>
            </a:solidFill>
            <a:prstDash val="solid"/>
          </a:ln>
        </p:spPr>
      </p:sp>
      <p:sp>
        <p:nvSpPr>
          <p:cNvPr id="46" name="Text 44"/>
          <p:cNvSpPr/>
          <p:nvPr/>
        </p:nvSpPr>
        <p:spPr>
          <a:xfrm>
            <a:off x="3474720" y="4357116"/>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47" name="Text 45"/>
          <p:cNvSpPr/>
          <p:nvPr/>
        </p:nvSpPr>
        <p:spPr>
          <a:xfrm>
            <a:off x="3675888" y="4334256"/>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Escalation rules</a:t>
            </a:r>
            <a:endParaRPr lang="en-US" sz="1000" dirty="0"/>
          </a:p>
        </p:txBody>
      </p:sp>
      <p:sp>
        <p:nvSpPr>
          <p:cNvPr id="48" name="Shape 46"/>
          <p:cNvSpPr/>
          <p:nvPr/>
        </p:nvSpPr>
        <p:spPr>
          <a:xfrm>
            <a:off x="3474720" y="4754880"/>
            <a:ext cx="146304" cy="146304"/>
          </a:xfrm>
          <a:prstGeom prst="ellipse">
            <a:avLst/>
          </a:prstGeom>
          <a:solidFill>
            <a:srgbClr val="06B6D4">
              <a:alpha val="25000"/>
            </a:srgbClr>
          </a:solidFill>
          <a:ln w="6350">
            <a:solidFill>
              <a:srgbClr val="06B6D4"/>
            </a:solidFill>
            <a:prstDash val="solid"/>
          </a:ln>
        </p:spPr>
      </p:sp>
      <p:sp>
        <p:nvSpPr>
          <p:cNvPr id="49" name="Text 47"/>
          <p:cNvSpPr/>
          <p:nvPr/>
        </p:nvSpPr>
        <p:spPr>
          <a:xfrm>
            <a:off x="3474720" y="4741164"/>
            <a:ext cx="146304" cy="164592"/>
          </a:xfrm>
          <a:prstGeom prst="rect">
            <a:avLst/>
          </a:prstGeom>
          <a:noFill/>
          <a:ln/>
        </p:spPr>
        <p:txBody>
          <a:bodyPr wrap="square" lIns="0" tIns="0" rIns="0" bIns="0" rtlCol="0" anchor="ctr"/>
          <a:lstStyle/>
          <a:p>
            <a:pPr algn="ctr" indent="0" marL="0">
              <a:buNone/>
            </a:pPr>
            <a:r>
              <a:rPr lang="en-US" sz="700" b="1" dirty="0">
                <a:solidFill>
                  <a:srgbClr val="06B6D4"/>
                </a:solidFill>
                <a:latin typeface="Calibri" pitchFamily="34" charset="0"/>
                <a:ea typeface="Calibri" pitchFamily="34" charset="-122"/>
                <a:cs typeface="Calibri" pitchFamily="34" charset="-120"/>
              </a:rPr>
              <a:t>✓</a:t>
            </a:r>
            <a:endParaRPr lang="en-US" sz="700" dirty="0"/>
          </a:p>
        </p:txBody>
      </p:sp>
      <p:sp>
        <p:nvSpPr>
          <p:cNvPr id="50" name="Text 48"/>
          <p:cNvSpPr/>
          <p:nvPr/>
        </p:nvSpPr>
        <p:spPr>
          <a:xfrm>
            <a:off x="3675888" y="4718304"/>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Reporting &amp; analytics</a:t>
            </a:r>
            <a:endParaRPr lang="en-US" sz="1000" dirty="0"/>
          </a:p>
        </p:txBody>
      </p:sp>
      <p:sp>
        <p:nvSpPr>
          <p:cNvPr id="51" name="Shape 49"/>
          <p:cNvSpPr/>
          <p:nvPr/>
        </p:nvSpPr>
        <p:spPr>
          <a:xfrm>
            <a:off x="3474720" y="5989320"/>
            <a:ext cx="2468880" cy="347472"/>
          </a:xfrm>
          <a:prstGeom prst="roundRect">
            <a:avLst>
              <a:gd name="adj" fmla="val 21053"/>
            </a:avLst>
          </a:prstGeom>
          <a:solidFill>
            <a:srgbClr val="06B6D4"/>
          </a:solidFill>
          <a:ln w="6350">
            <a:solidFill>
              <a:srgbClr val="06B6D4"/>
            </a:solidFill>
            <a:prstDash val="solid"/>
          </a:ln>
        </p:spPr>
      </p:sp>
      <p:sp>
        <p:nvSpPr>
          <p:cNvPr id="52" name="Text 50"/>
          <p:cNvSpPr/>
          <p:nvPr/>
        </p:nvSpPr>
        <p:spPr>
          <a:xfrm>
            <a:off x="3474720" y="5989320"/>
            <a:ext cx="2468880" cy="347472"/>
          </a:xfrm>
          <a:prstGeom prst="rect">
            <a:avLst/>
          </a:prstGeom>
          <a:noFill/>
          <a:ln/>
        </p:spPr>
        <p:txBody>
          <a:bodyPr wrap="square" lIns="0" tIns="0" rIns="0" bIns="0" rtlCol="0" anchor="ctr"/>
          <a:lstStyle/>
          <a:p>
            <a:pPr algn="ctr" indent="0" marL="0">
              <a:buNone/>
            </a:pPr>
            <a:r>
              <a:rPr lang="en-US" sz="900" b="1" dirty="0">
                <a:solidFill>
                  <a:srgbClr val="0A0A0F"/>
                </a:solidFill>
                <a:latin typeface="Calibri" pitchFamily="34" charset="0"/>
                <a:ea typeface="Calibri" pitchFamily="34" charset="-122"/>
                <a:cs typeface="Calibri" pitchFamily="34" charset="-120"/>
              </a:rPr>
              <a:t>Best for 100-driver fleets →</a:t>
            </a:r>
            <a:endParaRPr lang="en-US" sz="900" dirty="0"/>
          </a:p>
        </p:txBody>
      </p:sp>
      <p:sp>
        <p:nvSpPr>
          <p:cNvPr id="53" name="Shape 51"/>
          <p:cNvSpPr/>
          <p:nvPr/>
        </p:nvSpPr>
        <p:spPr>
          <a:xfrm>
            <a:off x="6263640" y="1783080"/>
            <a:ext cx="2743200" cy="4663440"/>
          </a:xfrm>
          <a:prstGeom prst="roundRect">
            <a:avLst>
              <a:gd name="adj" fmla="val 3333"/>
            </a:avLst>
          </a:prstGeom>
          <a:solidFill>
            <a:srgbClr val="13131F"/>
          </a:solidFill>
          <a:ln w="6350">
            <a:solidFill>
              <a:srgbClr val="FFFFFF">
                <a:alpha val="15000"/>
              </a:srgbClr>
            </a:solidFill>
            <a:prstDash val="solid"/>
          </a:ln>
        </p:spPr>
      </p:sp>
      <p:sp>
        <p:nvSpPr>
          <p:cNvPr id="54" name="Text 52"/>
          <p:cNvSpPr/>
          <p:nvPr/>
        </p:nvSpPr>
        <p:spPr>
          <a:xfrm>
            <a:off x="6355080" y="1920240"/>
            <a:ext cx="2560320" cy="256032"/>
          </a:xfrm>
          <a:prstGeom prst="rect">
            <a:avLst/>
          </a:prstGeom>
          <a:noFill/>
          <a:ln/>
        </p:spPr>
        <p:txBody>
          <a:bodyPr wrap="square" lIns="0" tIns="0" rIns="0" bIns="0" rtlCol="0" anchor="ctr"/>
          <a:lstStyle/>
          <a:p>
            <a:pPr algn="ctr" indent="0" marL="0">
              <a:buNone/>
            </a:pPr>
            <a:r>
              <a:rPr lang="en-US" sz="900" b="1" spc="200" kern="0" dirty="0">
                <a:solidFill>
                  <a:srgbClr val="94A3B8"/>
                </a:solidFill>
                <a:latin typeface="Calibri" pitchFamily="34" charset="0"/>
                <a:ea typeface="Calibri" pitchFamily="34" charset="-122"/>
                <a:cs typeface="Calibri" pitchFamily="34" charset="-120"/>
              </a:rPr>
              <a:t>BUSINESS</a:t>
            </a:r>
            <a:endParaRPr lang="en-US" sz="900" dirty="0"/>
          </a:p>
        </p:txBody>
      </p:sp>
      <p:sp>
        <p:nvSpPr>
          <p:cNvPr id="55" name="Text 53"/>
          <p:cNvSpPr/>
          <p:nvPr/>
        </p:nvSpPr>
        <p:spPr>
          <a:xfrm>
            <a:off x="6355080" y="2176272"/>
            <a:ext cx="2560320" cy="5029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$699/mo</a:t>
            </a:r>
            <a:endParaRPr lang="en-US" sz="2600" dirty="0"/>
          </a:p>
        </p:txBody>
      </p:sp>
      <p:sp>
        <p:nvSpPr>
          <p:cNvPr id="56" name="Text 54"/>
          <p:cNvSpPr/>
          <p:nvPr/>
        </p:nvSpPr>
        <p:spPr>
          <a:xfrm>
            <a:off x="6355080" y="2724912"/>
            <a:ext cx="2560320" cy="29260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3–5 depots · up to 500 drivers</a:t>
            </a:r>
            <a:endParaRPr lang="en-US" sz="900" dirty="0"/>
          </a:p>
        </p:txBody>
      </p:sp>
      <p:sp>
        <p:nvSpPr>
          <p:cNvPr id="57" name="Shape 55"/>
          <p:cNvSpPr/>
          <p:nvPr/>
        </p:nvSpPr>
        <p:spPr>
          <a:xfrm>
            <a:off x="6446520" y="3063240"/>
            <a:ext cx="2377440" cy="0"/>
          </a:xfrm>
          <a:prstGeom prst="line">
            <a:avLst/>
          </a:prstGeom>
          <a:noFill/>
          <a:ln w="3810">
            <a:solidFill>
              <a:srgbClr val="FFFFFF">
                <a:alpha val="15000"/>
              </a:srgbClr>
            </a:solidFill>
            <a:prstDash val="solid"/>
          </a:ln>
        </p:spPr>
      </p:sp>
      <p:sp>
        <p:nvSpPr>
          <p:cNvPr id="58" name="Shape 56"/>
          <p:cNvSpPr/>
          <p:nvPr/>
        </p:nvSpPr>
        <p:spPr>
          <a:xfrm>
            <a:off x="6400800" y="3218688"/>
            <a:ext cx="146304" cy="146304"/>
          </a:xfrm>
          <a:prstGeom prst="ellipse">
            <a:avLst/>
          </a:prstGeom>
          <a:solidFill>
            <a:srgbClr val="10B981">
              <a:alpha val="25000"/>
            </a:srgbClr>
          </a:solidFill>
          <a:ln w="6350">
            <a:solidFill>
              <a:srgbClr val="10B981"/>
            </a:solidFill>
            <a:prstDash val="solid"/>
          </a:ln>
        </p:spPr>
      </p:sp>
      <p:sp>
        <p:nvSpPr>
          <p:cNvPr id="59" name="Text 57"/>
          <p:cNvSpPr/>
          <p:nvPr/>
        </p:nvSpPr>
        <p:spPr>
          <a:xfrm>
            <a:off x="6400800" y="3204972"/>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60" name="Text 58"/>
          <p:cNvSpPr/>
          <p:nvPr/>
        </p:nvSpPr>
        <p:spPr>
          <a:xfrm>
            <a:off x="6601968" y="3182112"/>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Everything in Operations</a:t>
            </a:r>
            <a:endParaRPr lang="en-US" sz="1000" dirty="0"/>
          </a:p>
        </p:txBody>
      </p:sp>
      <p:sp>
        <p:nvSpPr>
          <p:cNvPr id="61" name="Shape 59"/>
          <p:cNvSpPr/>
          <p:nvPr/>
        </p:nvSpPr>
        <p:spPr>
          <a:xfrm>
            <a:off x="6400800" y="3602736"/>
            <a:ext cx="146304" cy="146304"/>
          </a:xfrm>
          <a:prstGeom prst="ellipse">
            <a:avLst/>
          </a:prstGeom>
          <a:solidFill>
            <a:srgbClr val="10B981">
              <a:alpha val="25000"/>
            </a:srgbClr>
          </a:solidFill>
          <a:ln w="6350">
            <a:solidFill>
              <a:srgbClr val="10B981"/>
            </a:solidFill>
            <a:prstDash val="solid"/>
          </a:ln>
        </p:spPr>
      </p:sp>
      <p:sp>
        <p:nvSpPr>
          <p:cNvPr id="62" name="Text 60"/>
          <p:cNvSpPr/>
          <p:nvPr/>
        </p:nvSpPr>
        <p:spPr>
          <a:xfrm>
            <a:off x="6400800" y="3589020"/>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63" name="Text 61"/>
          <p:cNvSpPr/>
          <p:nvPr/>
        </p:nvSpPr>
        <p:spPr>
          <a:xfrm>
            <a:off x="6601968" y="3566160"/>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20 supervisors</a:t>
            </a:r>
            <a:endParaRPr lang="en-US" sz="1000" dirty="0"/>
          </a:p>
        </p:txBody>
      </p:sp>
      <p:sp>
        <p:nvSpPr>
          <p:cNvPr id="64" name="Shape 62"/>
          <p:cNvSpPr/>
          <p:nvPr/>
        </p:nvSpPr>
        <p:spPr>
          <a:xfrm>
            <a:off x="6400800" y="3986784"/>
            <a:ext cx="146304" cy="146304"/>
          </a:xfrm>
          <a:prstGeom prst="ellipse">
            <a:avLst/>
          </a:prstGeom>
          <a:solidFill>
            <a:srgbClr val="10B981">
              <a:alpha val="25000"/>
            </a:srgbClr>
          </a:solidFill>
          <a:ln w="6350">
            <a:solidFill>
              <a:srgbClr val="10B981"/>
            </a:solidFill>
            <a:prstDash val="solid"/>
          </a:ln>
        </p:spPr>
      </p:sp>
      <p:sp>
        <p:nvSpPr>
          <p:cNvPr id="65" name="Text 63"/>
          <p:cNvSpPr/>
          <p:nvPr/>
        </p:nvSpPr>
        <p:spPr>
          <a:xfrm>
            <a:off x="6400800" y="3973068"/>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66" name="Text 64"/>
          <p:cNvSpPr/>
          <p:nvPr/>
        </p:nvSpPr>
        <p:spPr>
          <a:xfrm>
            <a:off x="6601968" y="3950208"/>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Multi-site routing</a:t>
            </a:r>
            <a:endParaRPr lang="en-US" sz="1000" dirty="0"/>
          </a:p>
        </p:txBody>
      </p:sp>
      <p:sp>
        <p:nvSpPr>
          <p:cNvPr id="67" name="Shape 65"/>
          <p:cNvSpPr/>
          <p:nvPr/>
        </p:nvSpPr>
        <p:spPr>
          <a:xfrm>
            <a:off x="6400800" y="4370832"/>
            <a:ext cx="146304" cy="146304"/>
          </a:xfrm>
          <a:prstGeom prst="ellipse">
            <a:avLst/>
          </a:prstGeom>
          <a:solidFill>
            <a:srgbClr val="10B981">
              <a:alpha val="25000"/>
            </a:srgbClr>
          </a:solidFill>
          <a:ln w="6350">
            <a:solidFill>
              <a:srgbClr val="10B981"/>
            </a:solidFill>
            <a:prstDash val="solid"/>
          </a:ln>
        </p:spPr>
      </p:sp>
      <p:sp>
        <p:nvSpPr>
          <p:cNvPr id="68" name="Text 66"/>
          <p:cNvSpPr/>
          <p:nvPr/>
        </p:nvSpPr>
        <p:spPr>
          <a:xfrm>
            <a:off x="6400800" y="4357116"/>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69" name="Text 67"/>
          <p:cNvSpPr/>
          <p:nvPr/>
        </p:nvSpPr>
        <p:spPr>
          <a:xfrm>
            <a:off x="6601968" y="4334256"/>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API &amp; webhooks</a:t>
            </a:r>
            <a:endParaRPr lang="en-US" sz="1000" dirty="0"/>
          </a:p>
        </p:txBody>
      </p:sp>
      <p:sp>
        <p:nvSpPr>
          <p:cNvPr id="70" name="Shape 68"/>
          <p:cNvSpPr/>
          <p:nvPr/>
        </p:nvSpPr>
        <p:spPr>
          <a:xfrm>
            <a:off x="6400800" y="4754880"/>
            <a:ext cx="146304" cy="146304"/>
          </a:xfrm>
          <a:prstGeom prst="ellipse">
            <a:avLst/>
          </a:prstGeom>
          <a:solidFill>
            <a:srgbClr val="10B981">
              <a:alpha val="25000"/>
            </a:srgbClr>
          </a:solidFill>
          <a:ln w="6350">
            <a:solidFill>
              <a:srgbClr val="10B981"/>
            </a:solidFill>
            <a:prstDash val="solid"/>
          </a:ln>
        </p:spPr>
      </p:sp>
      <p:sp>
        <p:nvSpPr>
          <p:cNvPr id="71" name="Text 69"/>
          <p:cNvSpPr/>
          <p:nvPr/>
        </p:nvSpPr>
        <p:spPr>
          <a:xfrm>
            <a:off x="6400800" y="4741164"/>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72" name="Text 70"/>
          <p:cNvSpPr/>
          <p:nvPr/>
        </p:nvSpPr>
        <p:spPr>
          <a:xfrm>
            <a:off x="6601968" y="4718304"/>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Account manager</a:t>
            </a:r>
            <a:endParaRPr lang="en-US" sz="1000" dirty="0"/>
          </a:p>
        </p:txBody>
      </p:sp>
      <p:sp>
        <p:nvSpPr>
          <p:cNvPr id="73" name="Shape 71"/>
          <p:cNvSpPr/>
          <p:nvPr/>
        </p:nvSpPr>
        <p:spPr>
          <a:xfrm>
            <a:off x="6400800" y="5989320"/>
            <a:ext cx="2468880" cy="347472"/>
          </a:xfrm>
          <a:prstGeom prst="roundRect">
            <a:avLst>
              <a:gd name="adj" fmla="val 21053"/>
            </a:avLst>
          </a:prstGeom>
          <a:solidFill>
            <a:srgbClr val="FFFFFF">
              <a:alpha val="10000"/>
            </a:srgbClr>
          </a:solidFill>
          <a:ln w="6350">
            <a:solidFill>
              <a:srgbClr val="FFFFFF">
                <a:alpha val="25000"/>
              </a:srgbClr>
            </a:solidFill>
            <a:prstDash val="solid"/>
          </a:ln>
        </p:spPr>
      </p:sp>
      <p:sp>
        <p:nvSpPr>
          <p:cNvPr id="74" name="Text 72"/>
          <p:cNvSpPr/>
          <p:nvPr/>
        </p:nvSpPr>
        <p:spPr>
          <a:xfrm>
            <a:off x="6400800" y="5989320"/>
            <a:ext cx="2468880" cy="347472"/>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Get started</a:t>
            </a:r>
            <a:endParaRPr lang="en-US" sz="900" dirty="0"/>
          </a:p>
        </p:txBody>
      </p:sp>
      <p:sp>
        <p:nvSpPr>
          <p:cNvPr id="75" name="Shape 73"/>
          <p:cNvSpPr/>
          <p:nvPr/>
        </p:nvSpPr>
        <p:spPr>
          <a:xfrm>
            <a:off x="9189720" y="1783080"/>
            <a:ext cx="2743200" cy="4663440"/>
          </a:xfrm>
          <a:prstGeom prst="roundRect">
            <a:avLst>
              <a:gd name="adj" fmla="val 3333"/>
            </a:avLst>
          </a:prstGeom>
          <a:solidFill>
            <a:srgbClr val="13131F"/>
          </a:solidFill>
          <a:ln w="6350">
            <a:solidFill>
              <a:srgbClr val="FFFFFF">
                <a:alpha val="15000"/>
              </a:srgbClr>
            </a:solidFill>
            <a:prstDash val="solid"/>
          </a:ln>
        </p:spPr>
      </p:sp>
      <p:sp>
        <p:nvSpPr>
          <p:cNvPr id="76" name="Text 74"/>
          <p:cNvSpPr/>
          <p:nvPr/>
        </p:nvSpPr>
        <p:spPr>
          <a:xfrm>
            <a:off x="9281160" y="1920240"/>
            <a:ext cx="2560320" cy="256032"/>
          </a:xfrm>
          <a:prstGeom prst="rect">
            <a:avLst/>
          </a:prstGeom>
          <a:noFill/>
          <a:ln/>
        </p:spPr>
        <p:txBody>
          <a:bodyPr wrap="square" lIns="0" tIns="0" rIns="0" bIns="0" rtlCol="0" anchor="ctr"/>
          <a:lstStyle/>
          <a:p>
            <a:pPr algn="ctr" indent="0" marL="0">
              <a:buNone/>
            </a:pPr>
            <a:r>
              <a:rPr lang="en-US" sz="900" b="1" spc="200" kern="0" dirty="0">
                <a:solidFill>
                  <a:srgbClr val="94A3B8"/>
                </a:solidFill>
                <a:latin typeface="Calibri" pitchFamily="34" charset="0"/>
                <a:ea typeface="Calibri" pitchFamily="34" charset="-122"/>
                <a:cs typeface="Calibri" pitchFamily="34" charset="-120"/>
              </a:rPr>
              <a:t>ENTERPRISE</a:t>
            </a:r>
            <a:endParaRPr lang="en-US" sz="900" dirty="0"/>
          </a:p>
        </p:txBody>
      </p:sp>
      <p:sp>
        <p:nvSpPr>
          <p:cNvPr id="77" name="Text 75"/>
          <p:cNvSpPr/>
          <p:nvPr/>
        </p:nvSpPr>
        <p:spPr>
          <a:xfrm>
            <a:off x="9281160" y="2176272"/>
            <a:ext cx="25603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Custom</a:t>
            </a:r>
            <a:endParaRPr lang="en-US" sz="2200" dirty="0"/>
          </a:p>
        </p:txBody>
      </p:sp>
      <p:sp>
        <p:nvSpPr>
          <p:cNvPr id="78" name="Text 76"/>
          <p:cNvSpPr/>
          <p:nvPr/>
        </p:nvSpPr>
        <p:spPr>
          <a:xfrm>
            <a:off x="9281160" y="2724912"/>
            <a:ext cx="2560320" cy="29260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500+ drivers · national ops</a:t>
            </a:r>
            <a:endParaRPr lang="en-US" sz="900" dirty="0"/>
          </a:p>
        </p:txBody>
      </p:sp>
      <p:sp>
        <p:nvSpPr>
          <p:cNvPr id="79" name="Shape 77"/>
          <p:cNvSpPr/>
          <p:nvPr/>
        </p:nvSpPr>
        <p:spPr>
          <a:xfrm>
            <a:off x="9372600" y="3063240"/>
            <a:ext cx="2377440" cy="0"/>
          </a:xfrm>
          <a:prstGeom prst="line">
            <a:avLst/>
          </a:prstGeom>
          <a:noFill/>
          <a:ln w="3810">
            <a:solidFill>
              <a:srgbClr val="FFFFFF">
                <a:alpha val="15000"/>
              </a:srgbClr>
            </a:solidFill>
            <a:prstDash val="solid"/>
          </a:ln>
        </p:spPr>
      </p:sp>
      <p:sp>
        <p:nvSpPr>
          <p:cNvPr id="80" name="Shape 78"/>
          <p:cNvSpPr/>
          <p:nvPr/>
        </p:nvSpPr>
        <p:spPr>
          <a:xfrm>
            <a:off x="9326880" y="3218688"/>
            <a:ext cx="146304" cy="146304"/>
          </a:xfrm>
          <a:prstGeom prst="ellipse">
            <a:avLst/>
          </a:prstGeom>
          <a:solidFill>
            <a:srgbClr val="10B981">
              <a:alpha val="25000"/>
            </a:srgbClr>
          </a:solidFill>
          <a:ln w="6350">
            <a:solidFill>
              <a:srgbClr val="10B981"/>
            </a:solidFill>
            <a:prstDash val="solid"/>
          </a:ln>
        </p:spPr>
      </p:sp>
      <p:sp>
        <p:nvSpPr>
          <p:cNvPr id="81" name="Text 79"/>
          <p:cNvSpPr/>
          <p:nvPr/>
        </p:nvSpPr>
        <p:spPr>
          <a:xfrm>
            <a:off x="9326880" y="3204972"/>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82" name="Text 80"/>
          <p:cNvSpPr/>
          <p:nvPr/>
        </p:nvSpPr>
        <p:spPr>
          <a:xfrm>
            <a:off x="9528048" y="3182112"/>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Everything in Business</a:t>
            </a:r>
            <a:endParaRPr lang="en-US" sz="1000" dirty="0"/>
          </a:p>
        </p:txBody>
      </p:sp>
      <p:sp>
        <p:nvSpPr>
          <p:cNvPr id="83" name="Shape 81"/>
          <p:cNvSpPr/>
          <p:nvPr/>
        </p:nvSpPr>
        <p:spPr>
          <a:xfrm>
            <a:off x="9326880" y="3602736"/>
            <a:ext cx="146304" cy="146304"/>
          </a:xfrm>
          <a:prstGeom prst="ellipse">
            <a:avLst/>
          </a:prstGeom>
          <a:solidFill>
            <a:srgbClr val="10B981">
              <a:alpha val="25000"/>
            </a:srgbClr>
          </a:solidFill>
          <a:ln w="6350">
            <a:solidFill>
              <a:srgbClr val="10B981"/>
            </a:solidFill>
            <a:prstDash val="solid"/>
          </a:ln>
        </p:spPr>
      </p:sp>
      <p:sp>
        <p:nvSpPr>
          <p:cNvPr id="84" name="Text 82"/>
          <p:cNvSpPr/>
          <p:nvPr/>
        </p:nvSpPr>
        <p:spPr>
          <a:xfrm>
            <a:off x="9326880" y="3589020"/>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85" name="Text 83"/>
          <p:cNvSpPr/>
          <p:nvPr/>
        </p:nvSpPr>
        <p:spPr>
          <a:xfrm>
            <a:off x="9528048" y="3566160"/>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Unlimited supervisors</a:t>
            </a:r>
            <a:endParaRPr lang="en-US" sz="1000" dirty="0"/>
          </a:p>
        </p:txBody>
      </p:sp>
      <p:sp>
        <p:nvSpPr>
          <p:cNvPr id="86" name="Shape 84"/>
          <p:cNvSpPr/>
          <p:nvPr/>
        </p:nvSpPr>
        <p:spPr>
          <a:xfrm>
            <a:off x="9326880" y="3986784"/>
            <a:ext cx="146304" cy="146304"/>
          </a:xfrm>
          <a:prstGeom prst="ellipse">
            <a:avLst/>
          </a:prstGeom>
          <a:solidFill>
            <a:srgbClr val="10B981">
              <a:alpha val="25000"/>
            </a:srgbClr>
          </a:solidFill>
          <a:ln w="6350">
            <a:solidFill>
              <a:srgbClr val="10B981"/>
            </a:solidFill>
            <a:prstDash val="solid"/>
          </a:ln>
        </p:spPr>
      </p:sp>
      <p:sp>
        <p:nvSpPr>
          <p:cNvPr id="87" name="Text 85"/>
          <p:cNvSpPr/>
          <p:nvPr/>
        </p:nvSpPr>
        <p:spPr>
          <a:xfrm>
            <a:off x="9326880" y="3973068"/>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88" name="Text 86"/>
          <p:cNvSpPr/>
          <p:nvPr/>
        </p:nvSpPr>
        <p:spPr>
          <a:xfrm>
            <a:off x="9528048" y="3950208"/>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Custom integrations</a:t>
            </a:r>
            <a:endParaRPr lang="en-US" sz="1000" dirty="0"/>
          </a:p>
        </p:txBody>
      </p:sp>
      <p:sp>
        <p:nvSpPr>
          <p:cNvPr id="89" name="Shape 87"/>
          <p:cNvSpPr/>
          <p:nvPr/>
        </p:nvSpPr>
        <p:spPr>
          <a:xfrm>
            <a:off x="9326880" y="4370832"/>
            <a:ext cx="146304" cy="146304"/>
          </a:xfrm>
          <a:prstGeom prst="ellipse">
            <a:avLst/>
          </a:prstGeom>
          <a:solidFill>
            <a:srgbClr val="10B981">
              <a:alpha val="25000"/>
            </a:srgbClr>
          </a:solidFill>
          <a:ln w="6350">
            <a:solidFill>
              <a:srgbClr val="10B981"/>
            </a:solidFill>
            <a:prstDash val="solid"/>
          </a:ln>
        </p:spPr>
      </p:sp>
      <p:sp>
        <p:nvSpPr>
          <p:cNvPr id="90" name="Text 88"/>
          <p:cNvSpPr/>
          <p:nvPr/>
        </p:nvSpPr>
        <p:spPr>
          <a:xfrm>
            <a:off x="9326880" y="4357116"/>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91" name="Text 89"/>
          <p:cNvSpPr/>
          <p:nvPr/>
        </p:nvSpPr>
        <p:spPr>
          <a:xfrm>
            <a:off x="9528048" y="4334256"/>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SLA &amp; compliance</a:t>
            </a:r>
            <a:endParaRPr lang="en-US" sz="1000" dirty="0"/>
          </a:p>
        </p:txBody>
      </p:sp>
      <p:sp>
        <p:nvSpPr>
          <p:cNvPr id="92" name="Shape 90"/>
          <p:cNvSpPr/>
          <p:nvPr/>
        </p:nvSpPr>
        <p:spPr>
          <a:xfrm>
            <a:off x="9326880" y="4754880"/>
            <a:ext cx="146304" cy="146304"/>
          </a:xfrm>
          <a:prstGeom prst="ellipse">
            <a:avLst/>
          </a:prstGeom>
          <a:solidFill>
            <a:srgbClr val="10B981">
              <a:alpha val="25000"/>
            </a:srgbClr>
          </a:solidFill>
          <a:ln w="6350">
            <a:solidFill>
              <a:srgbClr val="10B981"/>
            </a:solidFill>
            <a:prstDash val="solid"/>
          </a:ln>
        </p:spPr>
      </p:sp>
      <p:sp>
        <p:nvSpPr>
          <p:cNvPr id="93" name="Text 91"/>
          <p:cNvSpPr/>
          <p:nvPr/>
        </p:nvSpPr>
        <p:spPr>
          <a:xfrm>
            <a:off x="9326880" y="4741164"/>
            <a:ext cx="146304" cy="164592"/>
          </a:xfrm>
          <a:prstGeom prst="rect">
            <a:avLst/>
          </a:prstGeom>
          <a:noFill/>
          <a:ln/>
        </p:spPr>
        <p:txBody>
          <a:bodyPr wrap="square" lIns="0" tIns="0" rIns="0" bIns="0" rtlCol="0" anchor="ctr"/>
          <a:lstStyle/>
          <a:p>
            <a:pPr algn="ctr" indent="0" marL="0">
              <a:buNone/>
            </a:pPr>
            <a:r>
              <a:rPr lang="en-US" sz="700" b="1" dirty="0">
                <a:solidFill>
                  <a:srgbClr val="10B981"/>
                </a:solidFill>
                <a:latin typeface="Calibri" pitchFamily="34" charset="0"/>
                <a:ea typeface="Calibri" pitchFamily="34" charset="-122"/>
                <a:cs typeface="Calibri" pitchFamily="34" charset="-120"/>
              </a:rPr>
              <a:t>✓</a:t>
            </a:r>
            <a:endParaRPr lang="en-US" sz="700" dirty="0"/>
          </a:p>
        </p:txBody>
      </p:sp>
      <p:sp>
        <p:nvSpPr>
          <p:cNvPr id="94" name="Text 92"/>
          <p:cNvSpPr/>
          <p:nvPr/>
        </p:nvSpPr>
        <p:spPr>
          <a:xfrm>
            <a:off x="9528048" y="4718304"/>
            <a:ext cx="2377440" cy="219456"/>
          </a:xfrm>
          <a:prstGeom prst="rect">
            <a:avLst/>
          </a:prstGeom>
          <a:noFill/>
          <a:ln/>
        </p:spPr>
        <p:txBody>
          <a:bodyPr wrap="square" lIns="0" tIns="0" rIns="0" bIns="0" rtlCol="0" anchor="ctr"/>
          <a:lstStyle/>
          <a:p>
            <a:pPr indent="0" marL="0">
              <a:buNone/>
            </a:pPr>
            <a:r>
              <a:rPr lang="en-US" sz="1000" dirty="0">
                <a:solidFill>
                  <a:srgbClr val="E2E8F0"/>
                </a:solidFill>
                <a:latin typeface="Calibri" pitchFamily="34" charset="0"/>
                <a:ea typeface="Calibri" pitchFamily="34" charset="-122"/>
                <a:cs typeface="Calibri" pitchFamily="34" charset="-120"/>
              </a:rPr>
              <a:t>24/7 support</a:t>
            </a:r>
            <a:endParaRPr lang="en-US" sz="1000" dirty="0"/>
          </a:p>
        </p:txBody>
      </p:sp>
      <p:sp>
        <p:nvSpPr>
          <p:cNvPr id="95" name="Shape 93"/>
          <p:cNvSpPr/>
          <p:nvPr/>
        </p:nvSpPr>
        <p:spPr>
          <a:xfrm>
            <a:off x="9326880" y="5989320"/>
            <a:ext cx="2468880" cy="347472"/>
          </a:xfrm>
          <a:prstGeom prst="roundRect">
            <a:avLst>
              <a:gd name="adj" fmla="val 21053"/>
            </a:avLst>
          </a:prstGeom>
          <a:solidFill>
            <a:srgbClr val="FFFFFF">
              <a:alpha val="10000"/>
            </a:srgbClr>
          </a:solidFill>
          <a:ln w="6350">
            <a:solidFill>
              <a:srgbClr val="FFFFFF">
                <a:alpha val="25000"/>
              </a:srgbClr>
            </a:solidFill>
            <a:prstDash val="solid"/>
          </a:ln>
        </p:spPr>
      </p:sp>
      <p:sp>
        <p:nvSpPr>
          <p:cNvPr id="96" name="Text 94"/>
          <p:cNvSpPr/>
          <p:nvPr/>
        </p:nvSpPr>
        <p:spPr>
          <a:xfrm>
            <a:off x="9326880" y="5989320"/>
            <a:ext cx="2468880" cy="347472"/>
          </a:xfrm>
          <a:prstGeom prst="rect">
            <a:avLst/>
          </a:prstGeom>
          <a:noFill/>
          <a:ln/>
        </p:spPr>
        <p:txBody>
          <a:bodyPr wrap="square" lIns="0" tIns="0" rIns="0" bIns="0" rtlCol="0" anchor="ctr"/>
          <a:lstStyle/>
          <a:p>
            <a:pPr algn="ctr" indent="0" marL="0">
              <a:buNone/>
            </a:pPr>
            <a:r>
              <a:rPr lang="en-US" sz="900" dirty="0">
                <a:solidFill>
                  <a:srgbClr val="E2E8F0"/>
                </a:solidFill>
                <a:latin typeface="Calibri" pitchFamily="34" charset="0"/>
                <a:ea typeface="Calibri" pitchFamily="34" charset="-122"/>
                <a:cs typeface="Calibri" pitchFamily="34" charset="-120"/>
              </a:rPr>
              <a:t>Contact sales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w="12700">
            <a:solidFill>
              <a:srgbClr val="0A0A0F"/>
            </a:solidFill>
            <a:prstDash val="solid"/>
          </a:ln>
        </p:spPr>
      </p:sp>
      <p:sp>
        <p:nvSpPr>
          <p:cNvPr id="3" name="Text 1"/>
          <p:cNvSpPr/>
          <p:nvPr/>
        </p:nvSpPr>
        <p:spPr>
          <a:xfrm>
            <a:off x="502920" y="320040"/>
            <a:ext cx="6400800" cy="201168"/>
          </a:xfrm>
          <a:prstGeom prst="rect">
            <a:avLst/>
          </a:prstGeom>
          <a:noFill/>
          <a:ln/>
        </p:spPr>
        <p:txBody>
          <a:bodyPr wrap="square" rtlCol="0" anchor="ctr"/>
          <a:lstStyle/>
          <a:p>
            <a:pPr indent="0" marL="0">
              <a:buNone/>
            </a:pPr>
            <a:r>
              <a:rPr lang="en-US" sz="800" b="1" spc="300" kern="0" dirty="0">
                <a:solidFill>
                  <a:srgbClr val="06B6D4"/>
                </a:solidFill>
                <a:latin typeface="Calibri" pitchFamily="34" charset="0"/>
                <a:ea typeface="Calibri" pitchFamily="34" charset="-122"/>
                <a:cs typeface="Calibri" pitchFamily="34" charset="-120"/>
              </a:rPr>
              <a:t>COMMON QUESTIONS</a:t>
            </a:r>
            <a:endParaRPr lang="en-US" sz="800" dirty="0"/>
          </a:p>
        </p:txBody>
      </p:sp>
      <p:sp>
        <p:nvSpPr>
          <p:cNvPr id="4" name="Text 2"/>
          <p:cNvSpPr/>
          <p:nvPr/>
        </p:nvSpPr>
        <p:spPr>
          <a:xfrm>
            <a:off x="502920" y="548640"/>
            <a:ext cx="1097280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Questions we hear from</a:t>
            </a:r>
            <a:endParaRPr lang="en-US" sz="2600" dirty="0"/>
          </a:p>
          <a:p>
            <a:pPr indent="0" marL="0">
              <a:buNone/>
            </a:pPr>
            <a:r>
              <a:rPr lang="en-US" sz="2600" b="1" dirty="0">
                <a:solidFill>
                  <a:srgbClr val="FFFFFF"/>
                </a:solidFill>
                <a:latin typeface="Calibri" pitchFamily="34" charset="0"/>
                <a:ea typeface="Calibri" pitchFamily="34" charset="-122"/>
                <a:cs typeface="Calibri" pitchFamily="34" charset="-120"/>
              </a:rPr>
              <a:t>operations managers</a:t>
            </a:r>
            <a:endParaRPr lang="en-US" sz="2600" dirty="0"/>
          </a:p>
        </p:txBody>
      </p:sp>
      <p:sp>
        <p:nvSpPr>
          <p:cNvPr id="5" name="Shape 3"/>
          <p:cNvSpPr/>
          <p:nvPr/>
        </p:nvSpPr>
        <p:spPr>
          <a:xfrm>
            <a:off x="502920" y="1417320"/>
            <a:ext cx="11155680" cy="0"/>
          </a:xfrm>
          <a:prstGeom prst="line">
            <a:avLst/>
          </a:prstGeom>
          <a:noFill/>
          <a:ln w="5080">
            <a:solidFill>
              <a:srgbClr val="FFFFFF">
                <a:alpha val="20000"/>
              </a:srgbClr>
            </a:solidFill>
            <a:prstDash val="solid"/>
          </a:ln>
        </p:spPr>
      </p:sp>
      <p:sp>
        <p:nvSpPr>
          <p:cNvPr id="6" name="Shape 4"/>
          <p:cNvSpPr/>
          <p:nvPr/>
        </p:nvSpPr>
        <p:spPr>
          <a:xfrm>
            <a:off x="411480" y="1691640"/>
            <a:ext cx="3566160" cy="2011680"/>
          </a:xfrm>
          <a:prstGeom prst="roundRect">
            <a:avLst>
              <a:gd name="adj" fmla="val 3636"/>
            </a:avLst>
          </a:prstGeom>
          <a:solidFill>
            <a:srgbClr val="13131F"/>
          </a:solidFill>
          <a:ln w="6350">
            <a:solidFill>
              <a:srgbClr val="FFFFFF">
                <a:alpha val="15000"/>
              </a:srgbClr>
            </a:solidFill>
            <a:prstDash val="solid"/>
          </a:ln>
        </p:spPr>
      </p:sp>
      <p:sp>
        <p:nvSpPr>
          <p:cNvPr id="7" name="Text 5"/>
          <p:cNvSpPr/>
          <p:nvPr/>
        </p:nvSpPr>
        <p:spPr>
          <a:xfrm>
            <a:off x="548640" y="1828800"/>
            <a:ext cx="3291840" cy="41148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"Our drivers won't change how they communicate."</a:t>
            </a:r>
            <a:endParaRPr lang="en-US" sz="1000" dirty="0"/>
          </a:p>
        </p:txBody>
      </p:sp>
      <p:sp>
        <p:nvSpPr>
          <p:cNvPr id="8" name="Shape 6"/>
          <p:cNvSpPr/>
          <p:nvPr/>
        </p:nvSpPr>
        <p:spPr>
          <a:xfrm>
            <a:off x="548640" y="2286000"/>
            <a:ext cx="3291840" cy="0"/>
          </a:xfrm>
          <a:prstGeom prst="line">
            <a:avLst/>
          </a:prstGeom>
          <a:noFill/>
          <a:ln w="6350">
            <a:solidFill>
              <a:srgbClr val="06B6D4">
                <a:alpha val="50000"/>
              </a:srgbClr>
            </a:solidFill>
            <a:prstDash val="solid"/>
          </a:ln>
        </p:spPr>
      </p:sp>
      <p:sp>
        <p:nvSpPr>
          <p:cNvPr id="9" name="Text 7"/>
          <p:cNvSpPr/>
          <p:nvPr/>
        </p:nvSpPr>
        <p:spPr>
          <a:xfrm>
            <a:off x="548640" y="2377440"/>
            <a:ext cx="3291840" cy="118872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They don't have to. Drivers keep using the same number — they just call or text once. Xiaro handles everything behind the scenes. Zero change for drivers.</a:t>
            </a:r>
            <a:endParaRPr lang="en-US" sz="950" dirty="0"/>
          </a:p>
        </p:txBody>
      </p:sp>
      <p:sp>
        <p:nvSpPr>
          <p:cNvPr id="10" name="Shape 8"/>
          <p:cNvSpPr/>
          <p:nvPr/>
        </p:nvSpPr>
        <p:spPr>
          <a:xfrm>
            <a:off x="4251960" y="1691640"/>
            <a:ext cx="3566160" cy="2011680"/>
          </a:xfrm>
          <a:prstGeom prst="roundRect">
            <a:avLst>
              <a:gd name="adj" fmla="val 3636"/>
            </a:avLst>
          </a:prstGeom>
          <a:solidFill>
            <a:srgbClr val="13131F"/>
          </a:solidFill>
          <a:ln w="6350">
            <a:solidFill>
              <a:srgbClr val="FFFFFF">
                <a:alpha val="15000"/>
              </a:srgbClr>
            </a:solidFill>
            <a:prstDash val="solid"/>
          </a:ln>
        </p:spPr>
      </p:sp>
      <p:sp>
        <p:nvSpPr>
          <p:cNvPr id="11" name="Text 9"/>
          <p:cNvSpPr/>
          <p:nvPr/>
        </p:nvSpPr>
        <p:spPr>
          <a:xfrm>
            <a:off x="4389120" y="1828800"/>
            <a:ext cx="3291840" cy="41148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"Our supervisors don't want another app."</a:t>
            </a:r>
            <a:endParaRPr lang="en-US" sz="1000" dirty="0"/>
          </a:p>
        </p:txBody>
      </p:sp>
      <p:sp>
        <p:nvSpPr>
          <p:cNvPr id="12" name="Shape 10"/>
          <p:cNvSpPr/>
          <p:nvPr/>
        </p:nvSpPr>
        <p:spPr>
          <a:xfrm>
            <a:off x="4389120" y="2286000"/>
            <a:ext cx="3291840" cy="0"/>
          </a:xfrm>
          <a:prstGeom prst="line">
            <a:avLst/>
          </a:prstGeom>
          <a:noFill/>
          <a:ln w="6350">
            <a:solidFill>
              <a:srgbClr val="06B6D4">
                <a:alpha val="50000"/>
              </a:srgbClr>
            </a:solidFill>
            <a:prstDash val="solid"/>
          </a:ln>
        </p:spPr>
      </p:sp>
      <p:sp>
        <p:nvSpPr>
          <p:cNvPr id="13" name="Text 11"/>
          <p:cNvSpPr/>
          <p:nvPr/>
        </p:nvSpPr>
        <p:spPr>
          <a:xfrm>
            <a:off x="4389120" y="2377440"/>
            <a:ext cx="3291840" cy="118872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There's no app for supervisors. They receive calls, WhatsApp messages or SMS exactly as they do now — on their personal mobile. Xiaro is invisible to them.</a:t>
            </a:r>
            <a:endParaRPr lang="en-US" sz="950" dirty="0"/>
          </a:p>
        </p:txBody>
      </p:sp>
      <p:sp>
        <p:nvSpPr>
          <p:cNvPr id="14" name="Shape 12"/>
          <p:cNvSpPr/>
          <p:nvPr/>
        </p:nvSpPr>
        <p:spPr>
          <a:xfrm>
            <a:off x="8092440" y="1691640"/>
            <a:ext cx="3566160" cy="2011680"/>
          </a:xfrm>
          <a:prstGeom prst="roundRect">
            <a:avLst>
              <a:gd name="adj" fmla="val 3636"/>
            </a:avLst>
          </a:prstGeom>
          <a:solidFill>
            <a:srgbClr val="13131F"/>
          </a:solidFill>
          <a:ln w="6350">
            <a:solidFill>
              <a:srgbClr val="FFFFFF">
                <a:alpha val="15000"/>
              </a:srgbClr>
            </a:solidFill>
            <a:prstDash val="solid"/>
          </a:ln>
        </p:spPr>
      </p:sp>
      <p:sp>
        <p:nvSpPr>
          <p:cNvPr id="15" name="Text 13"/>
          <p:cNvSpPr/>
          <p:nvPr/>
        </p:nvSpPr>
        <p:spPr>
          <a:xfrm>
            <a:off x="8229600" y="1828800"/>
            <a:ext cx="3291840" cy="41148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"We already have a group WhatsApp chat."</a:t>
            </a:r>
            <a:endParaRPr lang="en-US" sz="1000" dirty="0"/>
          </a:p>
        </p:txBody>
      </p:sp>
      <p:sp>
        <p:nvSpPr>
          <p:cNvPr id="16" name="Shape 14"/>
          <p:cNvSpPr/>
          <p:nvPr/>
        </p:nvSpPr>
        <p:spPr>
          <a:xfrm>
            <a:off x="8229600" y="2286000"/>
            <a:ext cx="3291840" cy="0"/>
          </a:xfrm>
          <a:prstGeom prst="line">
            <a:avLst/>
          </a:prstGeom>
          <a:noFill/>
          <a:ln w="6350">
            <a:solidFill>
              <a:srgbClr val="06B6D4">
                <a:alpha val="50000"/>
              </a:srgbClr>
            </a:solidFill>
            <a:prstDash val="solid"/>
          </a:ln>
        </p:spPr>
      </p:sp>
      <p:sp>
        <p:nvSpPr>
          <p:cNvPr id="17" name="Text 15"/>
          <p:cNvSpPr/>
          <p:nvPr/>
        </p:nvSpPr>
        <p:spPr>
          <a:xfrm>
            <a:off x="8229600" y="2377440"/>
            <a:ext cx="3291840" cy="118872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Group chats have no accountability, no routing, no audit trail, and no escalation. When something goes wrong, a group chat can't prove who was responsible.</a:t>
            </a:r>
            <a:endParaRPr lang="en-US" sz="950" dirty="0"/>
          </a:p>
        </p:txBody>
      </p:sp>
      <p:sp>
        <p:nvSpPr>
          <p:cNvPr id="18" name="Shape 16"/>
          <p:cNvSpPr/>
          <p:nvPr/>
        </p:nvSpPr>
        <p:spPr>
          <a:xfrm>
            <a:off x="411480" y="3931920"/>
            <a:ext cx="3566160" cy="2011680"/>
          </a:xfrm>
          <a:prstGeom prst="roundRect">
            <a:avLst>
              <a:gd name="adj" fmla="val 3636"/>
            </a:avLst>
          </a:prstGeom>
          <a:solidFill>
            <a:srgbClr val="13131F"/>
          </a:solidFill>
          <a:ln w="6350">
            <a:solidFill>
              <a:srgbClr val="FFFFFF">
                <a:alpha val="15000"/>
              </a:srgbClr>
            </a:solidFill>
            <a:prstDash val="solid"/>
          </a:ln>
        </p:spPr>
      </p:sp>
      <p:sp>
        <p:nvSpPr>
          <p:cNvPr id="19" name="Text 17"/>
          <p:cNvSpPr/>
          <p:nvPr/>
        </p:nvSpPr>
        <p:spPr>
          <a:xfrm>
            <a:off x="548640" y="4069080"/>
            <a:ext cx="3291840" cy="41148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"What if the internet goes down or the driver has no data?"</a:t>
            </a:r>
            <a:endParaRPr lang="en-US" sz="1000" dirty="0"/>
          </a:p>
        </p:txBody>
      </p:sp>
      <p:sp>
        <p:nvSpPr>
          <p:cNvPr id="20" name="Shape 18"/>
          <p:cNvSpPr/>
          <p:nvPr/>
        </p:nvSpPr>
        <p:spPr>
          <a:xfrm>
            <a:off x="548640" y="4526280"/>
            <a:ext cx="3291840" cy="0"/>
          </a:xfrm>
          <a:prstGeom prst="line">
            <a:avLst/>
          </a:prstGeom>
          <a:noFill/>
          <a:ln w="6350">
            <a:solidFill>
              <a:srgbClr val="06B6D4">
                <a:alpha val="50000"/>
              </a:srgbClr>
            </a:solidFill>
            <a:prstDash val="solid"/>
          </a:ln>
        </p:spPr>
      </p:sp>
      <p:sp>
        <p:nvSpPr>
          <p:cNvPr id="21" name="Text 19"/>
          <p:cNvSpPr/>
          <p:nvPr/>
        </p:nvSpPr>
        <p:spPr>
          <a:xfrm>
            <a:off x="548640" y="4617720"/>
            <a:ext cx="3291840" cy="118872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Xiaro automatically falls back to SMS. Same number, same routing logic, same experience — SMS works even in remote areas with no data coverage.</a:t>
            </a:r>
            <a:endParaRPr lang="en-US" sz="950" dirty="0"/>
          </a:p>
        </p:txBody>
      </p:sp>
      <p:sp>
        <p:nvSpPr>
          <p:cNvPr id="22" name="Shape 20"/>
          <p:cNvSpPr/>
          <p:nvPr/>
        </p:nvSpPr>
        <p:spPr>
          <a:xfrm>
            <a:off x="4251960" y="3931920"/>
            <a:ext cx="3566160" cy="2011680"/>
          </a:xfrm>
          <a:prstGeom prst="roundRect">
            <a:avLst>
              <a:gd name="adj" fmla="val 3636"/>
            </a:avLst>
          </a:prstGeom>
          <a:solidFill>
            <a:srgbClr val="13131F"/>
          </a:solidFill>
          <a:ln w="6350">
            <a:solidFill>
              <a:srgbClr val="FFFFFF">
                <a:alpha val="15000"/>
              </a:srgbClr>
            </a:solidFill>
            <a:prstDash val="solid"/>
          </a:ln>
        </p:spPr>
      </p:sp>
      <p:sp>
        <p:nvSpPr>
          <p:cNvPr id="23" name="Text 21"/>
          <p:cNvSpPr/>
          <p:nvPr/>
        </p:nvSpPr>
        <p:spPr>
          <a:xfrm>
            <a:off x="4389120" y="4069080"/>
            <a:ext cx="3291840" cy="41148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"How long does it take to set up?"</a:t>
            </a:r>
            <a:endParaRPr lang="en-US" sz="1000" dirty="0"/>
          </a:p>
        </p:txBody>
      </p:sp>
      <p:sp>
        <p:nvSpPr>
          <p:cNvPr id="24" name="Shape 22"/>
          <p:cNvSpPr/>
          <p:nvPr/>
        </p:nvSpPr>
        <p:spPr>
          <a:xfrm>
            <a:off x="4389120" y="4526280"/>
            <a:ext cx="3291840" cy="0"/>
          </a:xfrm>
          <a:prstGeom prst="line">
            <a:avLst/>
          </a:prstGeom>
          <a:noFill/>
          <a:ln w="6350">
            <a:solidFill>
              <a:srgbClr val="06B6D4">
                <a:alpha val="50000"/>
              </a:srgbClr>
            </a:solidFill>
            <a:prstDash val="solid"/>
          </a:ln>
        </p:spPr>
      </p:sp>
      <p:sp>
        <p:nvSpPr>
          <p:cNvPr id="25" name="Text 23"/>
          <p:cNvSpPr/>
          <p:nvPr/>
        </p:nvSpPr>
        <p:spPr>
          <a:xfrm>
            <a:off x="4389120" y="4617720"/>
            <a:ext cx="3291840" cy="118872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Most customers are live within 24–48 hours. Our onboarding package handles all third-party setup (Alltel, VoIPline, 360dialog) for a one-off fee of $399.</a:t>
            </a:r>
            <a:endParaRPr lang="en-US" sz="950" dirty="0"/>
          </a:p>
        </p:txBody>
      </p:sp>
      <p:sp>
        <p:nvSpPr>
          <p:cNvPr id="26" name="Shape 24"/>
          <p:cNvSpPr/>
          <p:nvPr/>
        </p:nvSpPr>
        <p:spPr>
          <a:xfrm>
            <a:off x="8092440" y="3931920"/>
            <a:ext cx="3566160" cy="2011680"/>
          </a:xfrm>
          <a:prstGeom prst="roundRect">
            <a:avLst>
              <a:gd name="adj" fmla="val 3636"/>
            </a:avLst>
          </a:prstGeom>
          <a:solidFill>
            <a:srgbClr val="13131F"/>
          </a:solidFill>
          <a:ln w="6350">
            <a:solidFill>
              <a:srgbClr val="FFFFFF">
                <a:alpha val="15000"/>
              </a:srgbClr>
            </a:solidFill>
            <a:prstDash val="solid"/>
          </a:ln>
        </p:spPr>
      </p:sp>
      <p:sp>
        <p:nvSpPr>
          <p:cNvPr id="27" name="Text 25"/>
          <p:cNvSpPr/>
          <p:nvPr/>
        </p:nvSpPr>
        <p:spPr>
          <a:xfrm>
            <a:off x="8229600" y="4069080"/>
            <a:ext cx="3291840" cy="41148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"What does it cost us in total?"</a:t>
            </a:r>
            <a:endParaRPr lang="en-US" sz="1000" dirty="0"/>
          </a:p>
        </p:txBody>
      </p:sp>
      <p:sp>
        <p:nvSpPr>
          <p:cNvPr id="28" name="Shape 26"/>
          <p:cNvSpPr/>
          <p:nvPr/>
        </p:nvSpPr>
        <p:spPr>
          <a:xfrm>
            <a:off x="8229600" y="4526280"/>
            <a:ext cx="3291840" cy="0"/>
          </a:xfrm>
          <a:prstGeom prst="line">
            <a:avLst/>
          </a:prstGeom>
          <a:noFill/>
          <a:ln w="6350">
            <a:solidFill>
              <a:srgbClr val="06B6D4">
                <a:alpha val="50000"/>
              </a:srgbClr>
            </a:solidFill>
            <a:prstDash val="solid"/>
          </a:ln>
        </p:spPr>
      </p:sp>
      <p:sp>
        <p:nvSpPr>
          <p:cNvPr id="29" name="Text 27"/>
          <p:cNvSpPr/>
          <p:nvPr/>
        </p:nvSpPr>
        <p:spPr>
          <a:xfrm>
            <a:off x="8229600" y="4617720"/>
            <a:ext cx="3291840" cy="118872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Xiaro $349/mo + approx. $150/mo third-party services = ~$500/mo total. Against $130,000/yr in communication-related losses, that's a 25× return.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A0A0F"/>
          </a:solidFill>
          <a:ln w="12700">
            <a:solidFill>
              <a:srgbClr val="0A0A0F"/>
            </a:solidFill>
            <a:prstDash val="solid"/>
          </a:ln>
        </p:spPr>
      </p:sp>
      <p:sp>
        <p:nvSpPr>
          <p:cNvPr id="3" name="Shape 1"/>
          <p:cNvSpPr/>
          <p:nvPr/>
        </p:nvSpPr>
        <p:spPr>
          <a:xfrm>
            <a:off x="2743200" y="457200"/>
            <a:ext cx="6400800" cy="3657600"/>
          </a:xfrm>
          <a:prstGeom prst="ellipse">
            <a:avLst/>
          </a:prstGeom>
          <a:solidFill>
            <a:srgbClr val="3B82F6">
              <a:alpha val="10000"/>
            </a:srgbClr>
          </a:solidFill>
          <a:ln w="12700">
            <a:solidFill>
              <a:srgbClr val="0A0A0F"/>
            </a:solidFill>
            <a:prstDash val="solid"/>
          </a:ln>
        </p:spPr>
      </p:sp>
      <p:sp>
        <p:nvSpPr>
          <p:cNvPr id="4" name="Text 2"/>
          <p:cNvSpPr/>
          <p:nvPr/>
        </p:nvSpPr>
        <p:spPr>
          <a:xfrm>
            <a:off x="548640" y="685800"/>
            <a:ext cx="10972800" cy="274320"/>
          </a:xfrm>
          <a:prstGeom prst="rect">
            <a:avLst/>
          </a:prstGeom>
          <a:noFill/>
          <a:ln/>
        </p:spPr>
        <p:txBody>
          <a:bodyPr wrap="square" lIns="0" tIns="0" rIns="0" bIns="0" rtlCol="0" anchor="ctr"/>
          <a:lstStyle/>
          <a:p>
            <a:pPr algn="ctr" indent="0" marL="0">
              <a:buNone/>
            </a:pPr>
            <a:r>
              <a:rPr lang="en-US" sz="1000" b="1" spc="400" kern="0" dirty="0">
                <a:solidFill>
                  <a:srgbClr val="06B6D4"/>
                </a:solidFill>
                <a:latin typeface="Calibri" pitchFamily="34" charset="0"/>
                <a:ea typeface="Calibri" pitchFamily="34" charset="-122"/>
                <a:cs typeface="Calibri" pitchFamily="34" charset="-120"/>
              </a:rPr>
              <a:t>NEXT STEP</a:t>
            </a:r>
            <a:endParaRPr lang="en-US" sz="1000" dirty="0"/>
          </a:p>
        </p:txBody>
      </p:sp>
      <p:sp>
        <p:nvSpPr>
          <p:cNvPr id="5" name="Text 3"/>
          <p:cNvSpPr/>
          <p:nvPr/>
        </p:nvSpPr>
        <p:spPr>
          <a:xfrm>
            <a:off x="548640" y="1097280"/>
            <a:ext cx="11064240" cy="68580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Stop chasing who's on shift.</a:t>
            </a:r>
            <a:endParaRPr lang="en-US" sz="4000" dirty="0"/>
          </a:p>
        </p:txBody>
      </p:sp>
      <p:sp>
        <p:nvSpPr>
          <p:cNvPr id="6" name="Text 4"/>
          <p:cNvSpPr/>
          <p:nvPr/>
        </p:nvSpPr>
        <p:spPr>
          <a:xfrm>
            <a:off x="1371600" y="1920240"/>
            <a:ext cx="9418320" cy="411480"/>
          </a:xfrm>
          <a:prstGeom prst="rect">
            <a:avLst/>
          </a:prstGeom>
          <a:noFill/>
          <a:ln/>
        </p:spPr>
        <p:txBody>
          <a:bodyPr wrap="square" lIns="0" tIns="0" rIns="0" bIns="0" rtlCol="0" anchor="ctr"/>
          <a:lstStyle/>
          <a:p>
            <a:pPr algn="ctr" indent="0" marL="0">
              <a:buNone/>
            </a:pPr>
            <a:r>
              <a:rPr lang="en-US" sz="1500" dirty="0">
                <a:solidFill>
                  <a:srgbClr val="94A3B8"/>
                </a:solidFill>
                <a:latin typeface="Calibri" pitchFamily="34" charset="0"/>
                <a:ea typeface="Calibri" pitchFamily="34" charset="-122"/>
                <a:cs typeface="Calibri" pitchFamily="34" charset="-120"/>
              </a:rPr>
              <a:t>Route every voice call, WhatsApp message and SMS to the right person, first time.</a:t>
            </a:r>
            <a:endParaRPr lang="en-US" sz="1500" dirty="0"/>
          </a:p>
        </p:txBody>
      </p:sp>
      <p:sp>
        <p:nvSpPr>
          <p:cNvPr id="7" name="Shape 5"/>
          <p:cNvSpPr/>
          <p:nvPr/>
        </p:nvSpPr>
        <p:spPr>
          <a:xfrm>
            <a:off x="1371600" y="2514600"/>
            <a:ext cx="9418320" cy="0"/>
          </a:xfrm>
          <a:prstGeom prst="line">
            <a:avLst/>
          </a:prstGeom>
          <a:noFill/>
          <a:ln w="5080">
            <a:solidFill>
              <a:srgbClr val="FFFFFF">
                <a:alpha val="20000"/>
              </a:srgbClr>
            </a:solidFill>
            <a:prstDash val="solid"/>
          </a:ln>
        </p:spPr>
      </p:sp>
      <p:sp>
        <p:nvSpPr>
          <p:cNvPr id="8" name="Shape 6"/>
          <p:cNvSpPr/>
          <p:nvPr/>
        </p:nvSpPr>
        <p:spPr>
          <a:xfrm>
            <a:off x="731520" y="2788920"/>
            <a:ext cx="3291840" cy="1188720"/>
          </a:xfrm>
          <a:prstGeom prst="roundRect">
            <a:avLst>
              <a:gd name="adj" fmla="val 7692"/>
            </a:avLst>
          </a:prstGeom>
          <a:solidFill>
            <a:srgbClr val="13131F"/>
          </a:solidFill>
          <a:ln w="12700">
            <a:solidFill>
              <a:srgbClr val="06B6D4">
                <a:alpha val="60000"/>
              </a:srgbClr>
            </a:solidFill>
            <a:prstDash val="solid"/>
          </a:ln>
        </p:spPr>
      </p:sp>
      <p:sp>
        <p:nvSpPr>
          <p:cNvPr id="9" name="Text 7"/>
          <p:cNvSpPr/>
          <p:nvPr/>
        </p:nvSpPr>
        <p:spPr>
          <a:xfrm>
            <a:off x="822960" y="2926080"/>
            <a:ext cx="3108960" cy="320040"/>
          </a:xfrm>
          <a:prstGeom prst="rect">
            <a:avLst/>
          </a:prstGeom>
          <a:noFill/>
          <a:ln/>
        </p:spPr>
        <p:txBody>
          <a:bodyPr wrap="square" lIns="0" tIns="0" rIns="0" bIns="0" rtlCol="0" anchor="ctr"/>
          <a:lstStyle/>
          <a:p>
            <a:pPr algn="ctr" indent="0" marL="0">
              <a:buNone/>
            </a:pPr>
            <a:r>
              <a:rPr lang="en-US" sz="1300" b="1" dirty="0">
                <a:solidFill>
                  <a:srgbClr val="06B6D4"/>
                </a:solidFill>
                <a:latin typeface="Calibri" pitchFamily="34" charset="0"/>
                <a:ea typeface="Calibri" pitchFamily="34" charset="-122"/>
                <a:cs typeface="Calibri" pitchFamily="34" charset="-120"/>
              </a:rPr>
              <a:t>Start Free Trial</a:t>
            </a:r>
            <a:endParaRPr lang="en-US" sz="1300" dirty="0"/>
          </a:p>
        </p:txBody>
      </p:sp>
      <p:sp>
        <p:nvSpPr>
          <p:cNvPr id="10" name="Text 8"/>
          <p:cNvSpPr/>
          <p:nvPr/>
        </p:nvSpPr>
        <p:spPr>
          <a:xfrm>
            <a:off x="822960" y="3273552"/>
            <a:ext cx="310896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14 days, no credit card</a:t>
            </a:r>
            <a:endParaRPr lang="en-US" sz="1000" dirty="0"/>
          </a:p>
        </p:txBody>
      </p:sp>
      <p:sp>
        <p:nvSpPr>
          <p:cNvPr id="11" name="Shape 9"/>
          <p:cNvSpPr/>
          <p:nvPr/>
        </p:nvSpPr>
        <p:spPr>
          <a:xfrm>
            <a:off x="4343400" y="2788920"/>
            <a:ext cx="3291840" cy="1188720"/>
          </a:xfrm>
          <a:prstGeom prst="roundRect">
            <a:avLst>
              <a:gd name="adj" fmla="val 7692"/>
            </a:avLst>
          </a:prstGeom>
          <a:solidFill>
            <a:srgbClr val="13131F"/>
          </a:solidFill>
          <a:ln w="12700">
            <a:solidFill>
              <a:srgbClr val="3B82F6">
                <a:alpha val="60000"/>
              </a:srgbClr>
            </a:solidFill>
            <a:prstDash val="solid"/>
          </a:ln>
        </p:spPr>
      </p:sp>
      <p:sp>
        <p:nvSpPr>
          <p:cNvPr id="12" name="Text 10"/>
          <p:cNvSpPr/>
          <p:nvPr/>
        </p:nvSpPr>
        <p:spPr>
          <a:xfrm>
            <a:off x="4434840" y="2926080"/>
            <a:ext cx="3108960" cy="320040"/>
          </a:xfrm>
          <a:prstGeom prst="rect">
            <a:avLst/>
          </a:prstGeom>
          <a:noFill/>
          <a:ln/>
        </p:spPr>
        <p:txBody>
          <a:bodyPr wrap="square" lIns="0" tIns="0" rIns="0" bIns="0" rtlCol="0" anchor="ctr"/>
          <a:lstStyle/>
          <a:p>
            <a:pPr algn="ctr" indent="0" marL="0">
              <a:buNone/>
            </a:pPr>
            <a:r>
              <a:rPr lang="en-US" sz="1300" b="1" dirty="0">
                <a:solidFill>
                  <a:srgbClr val="3B82F6"/>
                </a:solidFill>
                <a:latin typeface="Calibri" pitchFamily="34" charset="0"/>
                <a:ea typeface="Calibri" pitchFamily="34" charset="-122"/>
                <a:cs typeface="Calibri" pitchFamily="34" charset="-120"/>
              </a:rPr>
              <a:t>Book a Demo</a:t>
            </a:r>
            <a:endParaRPr lang="en-US" sz="1300" dirty="0"/>
          </a:p>
        </p:txBody>
      </p:sp>
      <p:sp>
        <p:nvSpPr>
          <p:cNvPr id="13" name="Text 11"/>
          <p:cNvSpPr/>
          <p:nvPr/>
        </p:nvSpPr>
        <p:spPr>
          <a:xfrm>
            <a:off x="4434840" y="3273552"/>
            <a:ext cx="310896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30 min, we'll walk you through it</a:t>
            </a:r>
            <a:endParaRPr lang="en-US" sz="1000" dirty="0"/>
          </a:p>
        </p:txBody>
      </p:sp>
      <p:sp>
        <p:nvSpPr>
          <p:cNvPr id="14" name="Shape 12"/>
          <p:cNvSpPr/>
          <p:nvPr/>
        </p:nvSpPr>
        <p:spPr>
          <a:xfrm>
            <a:off x="7955280" y="2788920"/>
            <a:ext cx="3291840" cy="1188720"/>
          </a:xfrm>
          <a:prstGeom prst="roundRect">
            <a:avLst>
              <a:gd name="adj" fmla="val 7692"/>
            </a:avLst>
          </a:prstGeom>
          <a:solidFill>
            <a:srgbClr val="13131F"/>
          </a:solidFill>
          <a:ln w="12700">
            <a:solidFill>
              <a:srgbClr val="10B981">
                <a:alpha val="60000"/>
              </a:srgbClr>
            </a:solidFill>
            <a:prstDash val="solid"/>
          </a:ln>
        </p:spPr>
      </p:sp>
      <p:sp>
        <p:nvSpPr>
          <p:cNvPr id="15" name="Text 13"/>
          <p:cNvSpPr/>
          <p:nvPr/>
        </p:nvSpPr>
        <p:spPr>
          <a:xfrm>
            <a:off x="8046720" y="2926080"/>
            <a:ext cx="3108960" cy="320040"/>
          </a:xfrm>
          <a:prstGeom prst="rect">
            <a:avLst/>
          </a:prstGeom>
          <a:noFill/>
          <a:ln/>
        </p:spPr>
        <p:txBody>
          <a:bodyPr wrap="square" lIns="0" tIns="0" rIns="0" bIns="0" rtlCol="0" anchor="ctr"/>
          <a:lstStyle/>
          <a:p>
            <a:pPr algn="ctr" indent="0" marL="0">
              <a:buNone/>
            </a:pPr>
            <a:r>
              <a:rPr lang="en-US" sz="1300" b="1" dirty="0">
                <a:solidFill>
                  <a:srgbClr val="10B981"/>
                </a:solidFill>
                <a:latin typeface="Calibri" pitchFamily="34" charset="0"/>
                <a:ea typeface="Calibri" pitchFamily="34" charset="-122"/>
                <a:cs typeface="Calibri" pitchFamily="34" charset="-120"/>
              </a:rPr>
              <a:t>Onboarding Package</a:t>
            </a:r>
            <a:endParaRPr lang="en-US" sz="1300" dirty="0"/>
          </a:p>
        </p:txBody>
      </p:sp>
      <p:sp>
        <p:nvSpPr>
          <p:cNvPr id="16" name="Text 14"/>
          <p:cNvSpPr/>
          <p:nvPr/>
        </p:nvSpPr>
        <p:spPr>
          <a:xfrm>
            <a:off x="8046720" y="3273552"/>
            <a:ext cx="310896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$399 once-off — we set everything up</a:t>
            </a:r>
            <a:endParaRPr lang="en-US" sz="1000" dirty="0"/>
          </a:p>
        </p:txBody>
      </p:sp>
      <p:sp>
        <p:nvSpPr>
          <p:cNvPr id="17" name="Shape 15"/>
          <p:cNvSpPr/>
          <p:nvPr/>
        </p:nvSpPr>
        <p:spPr>
          <a:xfrm>
            <a:off x="548640" y="4206240"/>
            <a:ext cx="11064240" cy="0"/>
          </a:xfrm>
          <a:prstGeom prst="line">
            <a:avLst/>
          </a:prstGeom>
          <a:noFill/>
          <a:ln w="5080">
            <a:solidFill>
              <a:srgbClr val="FFFFFF">
                <a:alpha val="20000"/>
              </a:srgbClr>
            </a:solidFill>
            <a:prstDash val="solid"/>
          </a:ln>
        </p:spPr>
      </p:sp>
      <p:sp>
        <p:nvSpPr>
          <p:cNvPr id="18" name="Text 16"/>
          <p:cNvSpPr/>
          <p:nvPr/>
        </p:nvSpPr>
        <p:spPr>
          <a:xfrm>
            <a:off x="548640" y="4343400"/>
            <a:ext cx="1106424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xiaro.com.au  |  Right Person. First Time.</a:t>
            </a:r>
            <a:endParaRPr lang="en-US" sz="1300" dirty="0"/>
          </a:p>
        </p:txBody>
      </p:sp>
      <p:sp>
        <p:nvSpPr>
          <p:cNvPr id="19" name="Text 17"/>
          <p:cNvSpPr/>
          <p:nvPr/>
        </p:nvSpPr>
        <p:spPr>
          <a:xfrm>
            <a:off x="777240" y="4892040"/>
            <a:ext cx="1965960" cy="365760"/>
          </a:xfrm>
          <a:prstGeom prst="rect">
            <a:avLst/>
          </a:prstGeom>
          <a:noFill/>
          <a:ln/>
        </p:spPr>
        <p:txBody>
          <a:bodyPr wrap="square" lIns="0" tIns="0" rIns="0" bIns="0" rtlCol="0" anchor="ctr"/>
          <a:lstStyle/>
          <a:p>
            <a:pPr algn="ctr" indent="0" marL="0">
              <a:buNone/>
            </a:pPr>
            <a:r>
              <a:rPr lang="en-US" sz="1800" b="1" dirty="0">
                <a:solidFill>
                  <a:srgbClr val="06B6D4"/>
                </a:solidFill>
                <a:latin typeface="Calibri" pitchFamily="34" charset="0"/>
                <a:ea typeface="Calibri" pitchFamily="34" charset="-122"/>
                <a:cs typeface="Calibri" pitchFamily="34" charset="-120"/>
              </a:rPr>
              <a:t>$130K+</a:t>
            </a:r>
            <a:endParaRPr lang="en-US" sz="1800" dirty="0"/>
          </a:p>
        </p:txBody>
      </p:sp>
      <p:sp>
        <p:nvSpPr>
          <p:cNvPr id="20" name="Text 18"/>
          <p:cNvSpPr/>
          <p:nvPr/>
        </p:nvSpPr>
        <p:spPr>
          <a:xfrm>
            <a:off x="777240" y="5257800"/>
            <a:ext cx="1965960" cy="32004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Annual loss — 100 driver fleet</a:t>
            </a:r>
            <a:endParaRPr lang="en-US" sz="900" dirty="0"/>
          </a:p>
        </p:txBody>
      </p:sp>
      <p:sp>
        <p:nvSpPr>
          <p:cNvPr id="21" name="Text 19"/>
          <p:cNvSpPr/>
          <p:nvPr/>
        </p:nvSpPr>
        <p:spPr>
          <a:xfrm>
            <a:off x="2926080" y="4892040"/>
            <a:ext cx="1965960" cy="365760"/>
          </a:xfrm>
          <a:prstGeom prst="rect">
            <a:avLst/>
          </a:prstGeom>
          <a:noFill/>
          <a:ln/>
        </p:spPr>
        <p:txBody>
          <a:bodyPr wrap="square" lIns="0" tIns="0" rIns="0" bIns="0" rtlCol="0" anchor="ctr"/>
          <a:lstStyle/>
          <a:p>
            <a:pPr algn="ctr" indent="0" marL="0">
              <a:buNone/>
            </a:pPr>
            <a:r>
              <a:rPr lang="en-US" sz="1800" b="1" dirty="0">
                <a:solidFill>
                  <a:srgbClr val="06B6D4"/>
                </a:solidFill>
                <a:latin typeface="Calibri" pitchFamily="34" charset="0"/>
                <a:ea typeface="Calibri" pitchFamily="34" charset="-122"/>
                <a:cs typeface="Calibri" pitchFamily="34" charset="-120"/>
              </a:rPr>
              <a:t>$349/mo</a:t>
            </a:r>
            <a:endParaRPr lang="en-US" sz="1800" dirty="0"/>
          </a:p>
        </p:txBody>
      </p:sp>
      <p:sp>
        <p:nvSpPr>
          <p:cNvPr id="22" name="Text 20"/>
          <p:cNvSpPr/>
          <p:nvPr/>
        </p:nvSpPr>
        <p:spPr>
          <a:xfrm>
            <a:off x="2926080" y="5257800"/>
            <a:ext cx="1965960" cy="32004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Xiaro Operations plan</a:t>
            </a:r>
            <a:endParaRPr lang="en-US" sz="900" dirty="0"/>
          </a:p>
        </p:txBody>
      </p:sp>
      <p:sp>
        <p:nvSpPr>
          <p:cNvPr id="23" name="Text 21"/>
          <p:cNvSpPr/>
          <p:nvPr/>
        </p:nvSpPr>
        <p:spPr>
          <a:xfrm>
            <a:off x="5074920" y="4892040"/>
            <a:ext cx="1965960" cy="365760"/>
          </a:xfrm>
          <a:prstGeom prst="rect">
            <a:avLst/>
          </a:prstGeom>
          <a:noFill/>
          <a:ln/>
        </p:spPr>
        <p:txBody>
          <a:bodyPr wrap="square" lIns="0" tIns="0" rIns="0" bIns="0" rtlCol="0" anchor="ctr"/>
          <a:lstStyle/>
          <a:p>
            <a:pPr algn="ctr" indent="0" marL="0">
              <a:buNone/>
            </a:pPr>
            <a:r>
              <a:rPr lang="en-US" sz="1800" b="1" dirty="0">
                <a:solidFill>
                  <a:srgbClr val="06B6D4"/>
                </a:solidFill>
                <a:latin typeface="Calibri" pitchFamily="34" charset="0"/>
                <a:ea typeface="Calibri" pitchFamily="34" charset="-122"/>
                <a:cs typeface="Calibri" pitchFamily="34" charset="-120"/>
              </a:rPr>
              <a:t>29×</a:t>
            </a:r>
            <a:endParaRPr lang="en-US" sz="1800" dirty="0"/>
          </a:p>
        </p:txBody>
      </p:sp>
      <p:sp>
        <p:nvSpPr>
          <p:cNvPr id="24" name="Text 22"/>
          <p:cNvSpPr/>
          <p:nvPr/>
        </p:nvSpPr>
        <p:spPr>
          <a:xfrm>
            <a:off x="5074920" y="5257800"/>
            <a:ext cx="1965960" cy="32004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Return on investment</a:t>
            </a:r>
            <a:endParaRPr lang="en-US" sz="900" dirty="0"/>
          </a:p>
        </p:txBody>
      </p:sp>
      <p:sp>
        <p:nvSpPr>
          <p:cNvPr id="25" name="Text 23"/>
          <p:cNvSpPr/>
          <p:nvPr/>
        </p:nvSpPr>
        <p:spPr>
          <a:xfrm>
            <a:off x="7223760" y="4892040"/>
            <a:ext cx="1965960" cy="365760"/>
          </a:xfrm>
          <a:prstGeom prst="rect">
            <a:avLst/>
          </a:prstGeom>
          <a:noFill/>
          <a:ln/>
        </p:spPr>
        <p:txBody>
          <a:bodyPr wrap="square" lIns="0" tIns="0" rIns="0" bIns="0" rtlCol="0" anchor="ctr"/>
          <a:lstStyle/>
          <a:p>
            <a:pPr algn="ctr" indent="0" marL="0">
              <a:buNone/>
            </a:pPr>
            <a:r>
              <a:rPr lang="en-US" sz="1800" b="1" dirty="0">
                <a:solidFill>
                  <a:srgbClr val="06B6D4"/>
                </a:solidFill>
                <a:latin typeface="Calibri" pitchFamily="34" charset="0"/>
                <a:ea typeface="Calibri" pitchFamily="34" charset="-122"/>
                <a:cs typeface="Calibri" pitchFamily="34" charset="-120"/>
              </a:rPr>
              <a:t>&lt;48hrs</a:t>
            </a:r>
            <a:endParaRPr lang="en-US" sz="1800" dirty="0"/>
          </a:p>
        </p:txBody>
      </p:sp>
      <p:sp>
        <p:nvSpPr>
          <p:cNvPr id="26" name="Text 24"/>
          <p:cNvSpPr/>
          <p:nvPr/>
        </p:nvSpPr>
        <p:spPr>
          <a:xfrm>
            <a:off x="7223760" y="5257800"/>
            <a:ext cx="1965960" cy="32004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Time to go live</a:t>
            </a:r>
            <a:endParaRPr lang="en-US" sz="900" dirty="0"/>
          </a:p>
        </p:txBody>
      </p:sp>
      <p:sp>
        <p:nvSpPr>
          <p:cNvPr id="27" name="Text 25"/>
          <p:cNvSpPr/>
          <p:nvPr/>
        </p:nvSpPr>
        <p:spPr>
          <a:xfrm>
            <a:off x="9372600" y="4892040"/>
            <a:ext cx="1965960" cy="365760"/>
          </a:xfrm>
          <a:prstGeom prst="rect">
            <a:avLst/>
          </a:prstGeom>
          <a:noFill/>
          <a:ln/>
        </p:spPr>
        <p:txBody>
          <a:bodyPr wrap="square" lIns="0" tIns="0" rIns="0" bIns="0" rtlCol="0" anchor="ctr"/>
          <a:lstStyle/>
          <a:p>
            <a:pPr algn="ctr" indent="0" marL="0">
              <a:buNone/>
            </a:pPr>
            <a:r>
              <a:rPr lang="en-US" sz="1800" b="1" dirty="0">
                <a:solidFill>
                  <a:srgbClr val="06B6D4"/>
                </a:solidFill>
                <a:latin typeface="Calibri" pitchFamily="34" charset="0"/>
                <a:ea typeface="Calibri" pitchFamily="34" charset="-122"/>
                <a:cs typeface="Calibri" pitchFamily="34" charset="-120"/>
              </a:rPr>
              <a:t>0</a:t>
            </a:r>
            <a:endParaRPr lang="en-US" sz="1800" dirty="0"/>
          </a:p>
        </p:txBody>
      </p:sp>
      <p:sp>
        <p:nvSpPr>
          <p:cNvPr id="28" name="Text 26"/>
          <p:cNvSpPr/>
          <p:nvPr/>
        </p:nvSpPr>
        <p:spPr>
          <a:xfrm>
            <a:off x="9372600" y="5257800"/>
            <a:ext cx="1965960" cy="32004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Apps for supervisors</a:t>
            </a:r>
            <a:endParaRPr lang="en-US" sz="900" dirty="0"/>
          </a:p>
        </p:txBody>
      </p:sp>
      <p:sp>
        <p:nvSpPr>
          <p:cNvPr id="29" name="Text 27"/>
          <p:cNvSpPr/>
          <p:nvPr/>
        </p:nvSpPr>
        <p:spPr>
          <a:xfrm>
            <a:off x="548640" y="5760720"/>
            <a:ext cx="11064240" cy="274320"/>
          </a:xfrm>
          <a:prstGeom prst="rect">
            <a:avLst/>
          </a:prstGeom>
          <a:noFill/>
          <a:ln/>
        </p:spPr>
        <p:txBody>
          <a:bodyPr wrap="square" lIns="0" tIns="0" rIns="0" bIns="0" rtlCol="0" anchor="ctr"/>
          <a:lstStyle/>
          <a:p>
            <a:pPr algn="ctr" indent="0" marL="0">
              <a:buNone/>
            </a:pPr>
            <a:r>
              <a:rPr lang="en-US" sz="900" i="1" dirty="0">
                <a:solidFill>
                  <a:srgbClr val="94A3B8"/>
                </a:solidFill>
                <a:latin typeface="Calibri" pitchFamily="34" charset="0"/>
                <a:ea typeface="Calibri" pitchFamily="34" charset="-122"/>
                <a:cs typeface="Calibri" pitchFamily="34" charset="-120"/>
              </a:rPr>
              <a:t>Workforce Communications Platform  |  Built for shift-based operations in Australia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Xiaro — The Cost of Communication Failure</dc:title>
  <dc:subject>PptxGenJS Presentation</dc:subject>
  <dc:creator>PptxGenJS</dc:creator>
  <cp:lastModifiedBy>PptxGenJS</cp:lastModifiedBy>
  <cp:revision>1</cp:revision>
  <dcterms:created xsi:type="dcterms:W3CDTF">2026-06-09T23:37:39Z</dcterms:created>
  <dcterms:modified xsi:type="dcterms:W3CDTF">2026-06-09T23:37:39Z</dcterms:modified>
</cp:coreProperties>
</file>